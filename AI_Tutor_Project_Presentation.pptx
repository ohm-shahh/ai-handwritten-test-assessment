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This is AI-Tutor, a project on evaluating handwritten and scanned student answer sheets using OCR and AI. The work is documented in four phases: OCR, teacher knowledge ingestion, student answer mapping, and automatic evaluation. The visual shows the core idea: an answer sheet goes into an AI system and comes out as marks and feedback. Throughout this presentation I will separate what has been reported as implemented from what is still a target design. Let me begin with the problem we are addressing.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straightforward: grading a written answer means reading it, comparing it with the teacher's reference answer, and judging it against the marking criteria. The right-hand diagram contrasts the traditional steps with the workflow AI-Tutor intends to follow: upload documents, extract text, organize exam knowledge, map student answers, evaluate against rubrics, and generate feedback. Our four objectives follow that chain. We are not claiming time savings or accuracy figures, because the project documentation does not provide supporting measurements. Next, the architecture behind this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high-level architecture. In the teacher workflow, the portal accepts a question paper, model answer and rubric. Originals are stored first, then text is extracted, using OCR where needed, and parsed into questions. The output splits: exact data goes to the structured store, reported as store.json, while semantic chunks are embedded with qwen3-embedding:4b through Ollama and persisted in ChromaDB. In the student workflow, the selected OCR engine reads the uploaded sheet and answers are segmented and mapped into student answer records. Both feed the planned evaluation component. The colors show three different storage types: original files, structured records and the vector index. The stack at the bottom lists the technologies named in the project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provides one OCR interface for the whole application. The user picks an engine in the selector; the request goes to a FastAPI endpoint and an OCR router, which runs either Standard OCR, reported as Gemma 3 Vision through Ollama, or Chandra OCR, using its Python, Hugging Face and PyTorch path. The result returns as extracted text and page results. Three safeguards matter: the selection must truly control inference, there is no silent fallback to the other engine, and original files stay available. Both engines were reported as working in the coding-agent audit, which is not an independent code audit, so runtime behavior needs retesting. Surya is no longer an intended option. Next, how this OCR layer feeds teacher 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converts teacher documents into usable exam knowledge. On the left is what happens: the teacher uploads the documents and originals are preserved; text is extracted directly or through the Phase 1 OCR for scans; the parser identifies questions, marks, answers and rubrics; and the content is stored in two ways. The diagram shows that split. The structured store holds exact question IDs, text, maximum marks, model answers and rubrics, and is the source of truth. ChromaDB holds chunks, embeddings and metadata for semantic retrieval only. Uploaded content does not automatically enter an LLM's context; the application must retrieve and pass it explicitly. The audit reported passing tests, but file persistence, restart behavior and re-ingestion still need verification. Next is Phase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is a target phase; its completion is not confirmed in the project documentation. The strip at the top shows the intended flow: after OCR, the system detects question labels, segments the text, and matches each segment to a teacher question ID from the structured store. There are two outcomes. A confident match links the answer to the right question and keeps its text and page references. An ambiguous or missing match is retained and flagged for review, never silently discarded or misassigned. The record fields on the right give traceability. Importantly, this phase only organizes answers; it awards no marks. Marking is Phase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is the target evaluation architecture. The strip shows the pipeline: for each mapped answer, the application fetches the exact question, rubric, model answer and maximum marks from structured storage, optionally retrieves relevant context from ChromaDB, and passes everything explicitly to the evaluation LLM. The result is validated, stored and presented for teacher review and student feedback. The intended outputs are marks awarded, maximum marks, reasoning, missing concepts, feedback and a teacher-review flag. The four-out-of-five example is purely illustrative, not a test result. A basic evaluator was reported to exist, but its full integration is unverified. Now let me put the whole lifecycle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intended lifecycle in two stages. Teacher setup, steps one to four: upload the question paper, model answer and rubric, extract and parse, store structured records, then generate embeddings and persist chunks. This was reported in Phase 2, with persistence still to be verified. Student assessment, steps five to ten: upload the answer sheet, run the selected OCR engine, which is reported in Phase 1, then segment and map answers, load the correct question and criteria, evaluate and store results, and present marks and feedback. The dashed card marks that steps seven to ten are planned and not confirmed. The bottom row lists reliability requirements: persistence across restarts, no silent engine switching, marks bounded by maximum marks, traceability, and human review for uncertain cases. Next, a candid status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deliberately candid. Reported: Phase 1 Standard and Chandra routing, Phase 2 ingestion, extraction, parsing, embedding, ChromaDB storage and UI status integration reported as passing the coding-agent audit, and a basic evaluator reported to exist. That is a report, not an independent source-code review. Pending verification: OCR runtime behavior, file and record persistence, ChromaDB after restart, re-ingestion consistency and full UI integration. Planned: Phase 3, full Phase 4 integration and the end-to-end workflow. The bottom row gives the order of work. We are not assigning completion percentages or claiming production readiness. Finally,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AI-Tutor's design combines OCR for text extraction, structured ingestion of teacher knowledge, semantic indexing for relevant retrieval, question-wise mapping of student answers, rubric-grounded AI evaluation, and validation, traceability and teacher review. The final diagram shows teacher knowledge and student answers flowing through OCR and mapping into reference-grounded evaluation, producing marks and feedback. Dashed boxes are planned or unconfirmed components. Phases 1 and 2 are reported as implemented and need verification; Phases 3 and 4 are the next work. Thank you; I am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6F9"/>
        </a:solidFill>
      </p:bgPr>
    </p:bg>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5B6577"/>
                </a:solidFill>
                <a:latin typeface="Calibri" pitchFamily="34" charset="0"/>
                <a:ea typeface="Calibri" pitchFamily="34" charset="-122"/>
                <a:cs typeface="Calibri" pitchFamily="34" charset="-120"/>
              </a:rPr>
              <a:t>AI-Tutor  |  Phase 1–4 Implementation &amp; Architecture</a:t>
            </a:r>
            <a:endParaRPr lang="en-US" sz="1000" dirty="0"/>
          </a:p>
        </p:txBody>
      </p:sp>
      <p:sp>
        <p:nvSpPr>
          <p:cNvPr id="3" name="Text 1"/>
          <p:cNvSpPr/>
          <p:nvPr>
            <p:ph idx="101" type="title" hasCustomPrompt="1"/>
          </p:nvPr>
        </p:nvSpPr>
        <p:spPr>
          <a:xfrm>
            <a:off x="548640" y="274320"/>
            <a:ext cx="11064240" cy="685800"/>
          </a:xfrm>
          <a:prstGeom prst="rect">
            <a:avLst/>
          </a:prstGeom>
          <a:noFill/>
          <a:ln/>
        </p:spPr>
        <p:txBody>
          <a:bodyPr wrap="square" rtlCol="0"/>
          <a:lstStyle>
            <a:lvl1pPr algn="l" indent="0" marL="0">
              <a:buNone/>
              <a:defRPr lang="en-US" sz="2800" b="1" dirty="0">
                <a:solidFill>
                  <a:srgbClr val="0B1F3A"/>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6400800" cy="1097280"/>
          </a:xfrm>
          <a:prstGeom prst="rect">
            <a:avLst/>
          </a:prstGeom>
          <a:noFill/>
          <a:ln/>
        </p:spPr>
        <p:txBody>
          <a:bodyPr wrap="square" rtlCol="0"/>
          <a:lstStyle>
            <a:lvl1pPr algn="l" indent="0" marL="0">
              <a:buNone/>
              <a:defRPr lang="en-US" sz="54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5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9FB0C8"/>
                </a:solidFill>
                <a:latin typeface="Calibri" pitchFamily="34" charset="0"/>
                <a:ea typeface="Calibri" pitchFamily="34" charset="-122"/>
                <a:cs typeface="Calibri" pitchFamily="34" charset="-120"/>
              </a:rPr>
              <a:t>AI-Tutor  |  Phase 1–4 Implementation &amp; Architecture</a:t>
            </a:r>
            <a:endParaRPr lang="en-US" sz="1000" dirty="0"/>
          </a:p>
        </p:txBody>
      </p:sp>
      <p:sp>
        <p:nvSpPr>
          <p:cNvPr id="3" name="Text 1"/>
          <p:cNvSpPr/>
          <p:nvPr>
            <p:ph idx="101" type="title" hasCustomPrompt="1"/>
          </p:nvPr>
        </p:nvSpPr>
        <p:spPr>
          <a:xfrm>
            <a:off x="548640" y="365760"/>
            <a:ext cx="11064240" cy="822960"/>
          </a:xfrm>
          <a:prstGeom prst="rect">
            <a:avLst/>
          </a:prstGeom>
          <a:noFill/>
          <a:ln/>
        </p:spPr>
        <p:txBody>
          <a:bodyPr wrap="square" rtlCol="0"/>
          <a:lstStyle>
            <a:lvl1pPr algn="l" indent="0" marL="0">
              <a:buNone/>
              <a:defRPr lang="en-US" sz="3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6400800" cy="1097280"/>
          </a:xfrm>
          <a:prstGeom prst="rect">
            <a:avLst/>
          </a:prstGeom>
          <a:noFill/>
          <a:ln/>
        </p:spPr>
        <p:txBody>
          <a:bodyPr wrap="square" lIns="0" tIns="0" rIns="0" bIns="0" rtlCol="0" anchor="ctr"/>
          <a:lstStyle/>
          <a:p>
            <a:pPr algn="l" indent="0" marL="0">
              <a:buNone/>
            </a:pPr>
            <a:r>
              <a:rPr lang="en-US" sz="5400" b="1" dirty="0">
                <a:solidFill>
                  <a:srgbClr val="FFFFFF"/>
                </a:solidFill>
                <a:latin typeface="Calibri" pitchFamily="34" charset="0"/>
                <a:ea typeface="Calibri" pitchFamily="34" charset="-122"/>
                <a:cs typeface="Calibri" pitchFamily="34" charset="-120"/>
              </a:rPr>
              <a:t>AI-Tutor</a:t>
            </a:r>
            <a:endParaRPr lang="en-US" sz="5400" dirty="0"/>
          </a:p>
        </p:txBody>
      </p:sp>
      <p:sp>
        <p:nvSpPr>
          <p:cNvPr id="3" name="Text 1"/>
          <p:cNvSpPr txBox="1"/>
          <p:nvPr/>
        </p:nvSpPr>
        <p:spPr>
          <a:xfrm>
            <a:off x="548640" y="2514600"/>
            <a:ext cx="6400800" cy="914400"/>
          </a:xfrm>
          <a:prstGeom prst="rect">
            <a:avLst/>
          </a:prstGeom>
          <a:noFill/>
          <a:ln/>
        </p:spPr>
        <p:txBody>
          <a:bodyPr wrap="square" lIns="0" tIns="0" rIns="0" bIns="0" rtlCol="0" anchor="t"/>
          <a:lstStyle/>
          <a:p>
            <a:pPr algn="l" indent="0" marL="0">
              <a:buNone/>
            </a:pPr>
            <a:r>
              <a:rPr lang="en-US" sz="2400" dirty="0">
                <a:solidFill>
                  <a:srgbClr val="DCE6F5"/>
                </a:solidFill>
                <a:latin typeface="Calibri" pitchFamily="34" charset="0"/>
                <a:ea typeface="Calibri" pitchFamily="34" charset="-122"/>
                <a:cs typeface="Calibri" pitchFamily="34" charset="-120"/>
              </a:rPr>
              <a:t>Intelligent Student Answer Evaluation Using OCR and AI</a:t>
            </a:r>
            <a:endParaRPr lang="en-US" sz="2400" dirty="0"/>
          </a:p>
        </p:txBody>
      </p:sp>
      <p:sp>
        <p:nvSpPr>
          <p:cNvPr id="4" name="Text 2"/>
          <p:cNvSpPr txBox="1"/>
          <p:nvPr/>
        </p:nvSpPr>
        <p:spPr>
          <a:xfrm>
            <a:off x="548640" y="3520440"/>
            <a:ext cx="6400800" cy="365760"/>
          </a:xfrm>
          <a:prstGeom prst="rect">
            <a:avLst/>
          </a:prstGeom>
          <a:noFill/>
          <a:ln/>
        </p:spPr>
        <p:txBody>
          <a:bodyPr wrap="square" lIns="0" tIns="0" rIns="0" bIns="0" rtlCol="0" anchor="t"/>
          <a:lstStyle/>
          <a:p>
            <a:pPr algn="l" indent="0" marL="0">
              <a:buNone/>
            </a:pPr>
            <a:r>
              <a:rPr lang="en-US" sz="1600" dirty="0">
                <a:solidFill>
                  <a:srgbClr val="9FB0C8"/>
                </a:solidFill>
                <a:latin typeface="Calibri" pitchFamily="34" charset="0"/>
                <a:ea typeface="Calibri" pitchFamily="34" charset="-122"/>
                <a:cs typeface="Calibri" pitchFamily="34" charset="-120"/>
              </a:rPr>
              <a:t>Phase 1–4 Implementation &amp; Architecture</a:t>
            </a:r>
            <a:endParaRPr lang="en-US" sz="1600" dirty="0"/>
          </a:p>
        </p:txBody>
      </p:sp>
      <p:sp>
        <p:nvSpPr>
          <p:cNvPr id="5" name="Box: Document OCR"/>
          <p:cNvSpPr/>
          <p:nvPr/>
        </p:nvSpPr>
        <p:spPr>
          <a:xfrm>
            <a:off x="548640" y="4160520"/>
            <a:ext cx="1737360" cy="411480"/>
          </a:xfrm>
          <a:prstGeom prst="roundRect">
            <a:avLst>
              <a:gd name="adj" fmla="val 17778"/>
            </a:avLst>
          </a:prstGeom>
          <a:solidFill>
            <a:srgbClr val="12305A"/>
          </a:solidFill>
          <a:ln w="12700">
            <a:solidFill>
              <a:srgbClr val="0F9D9A"/>
            </a:solid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Document OCR</a:t>
            </a:r>
            <a:endParaRPr lang="en-US" sz="1400" dirty="0"/>
          </a:p>
        </p:txBody>
      </p:sp>
      <p:sp>
        <p:nvSpPr>
          <p:cNvPr id="6" name="Box: Teacher Knowledge Ingestion"/>
          <p:cNvSpPr/>
          <p:nvPr/>
        </p:nvSpPr>
        <p:spPr>
          <a:xfrm>
            <a:off x="2468880" y="4160520"/>
            <a:ext cx="2743200" cy="411480"/>
          </a:xfrm>
          <a:prstGeom prst="roundRect">
            <a:avLst>
              <a:gd name="adj" fmla="val 17778"/>
            </a:avLst>
          </a:prstGeom>
          <a:solidFill>
            <a:srgbClr val="12305A"/>
          </a:solidFill>
          <a:ln w="12700">
            <a:solidFill>
              <a:srgbClr val="0F9D9A"/>
            </a:solid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Teacher Knowledge Ingestion</a:t>
            </a:r>
            <a:endParaRPr lang="en-US" sz="1400" dirty="0"/>
          </a:p>
        </p:txBody>
      </p:sp>
      <p:sp>
        <p:nvSpPr>
          <p:cNvPr id="7" name="Box: Automated Answer Evaluation"/>
          <p:cNvSpPr/>
          <p:nvPr/>
        </p:nvSpPr>
        <p:spPr>
          <a:xfrm>
            <a:off x="5394960" y="4160520"/>
            <a:ext cx="2743200" cy="411480"/>
          </a:xfrm>
          <a:prstGeom prst="roundRect">
            <a:avLst>
              <a:gd name="adj" fmla="val 17778"/>
            </a:avLst>
          </a:prstGeom>
          <a:solidFill>
            <a:srgbClr val="12305A"/>
          </a:solidFill>
          <a:ln w="12700">
            <a:solidFill>
              <a:srgbClr val="0F9D9A"/>
            </a:solidFill>
          </a:ln>
        </p:spPr>
        <p:txBody>
          <a:bodyPr wrap="square" lIns="25400" tIns="25400" rIns="25400" bIns="254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Automated Answer Evaluation</a:t>
            </a:r>
            <a:endParaRPr lang="en-US" sz="1400" dirty="0"/>
          </a:p>
        </p:txBody>
      </p:sp>
      <p:sp>
        <p:nvSpPr>
          <p:cNvPr id="8" name="Box: "/>
          <p:cNvSpPr/>
          <p:nvPr/>
        </p:nvSpPr>
        <p:spPr>
          <a:xfrm>
            <a:off x="7269480" y="1920240"/>
            <a:ext cx="1188720" cy="1600200"/>
          </a:xfrm>
          <a:prstGeom prst="rect">
            <a:avLst>
              <a:gd name="adj" fmla="val 6154"/>
            </a:avLst>
          </a:prstGeom>
          <a:solidFill>
            <a:srgbClr val="FFFFFF"/>
          </a:solidFill>
          <a:ln w="12700">
            <a:solidFill>
              <a:srgbClr val="FFFFFF"/>
            </a:solidFill>
          </a:ln>
        </p:spPr>
        <p:txBody>
          <a:bodyPr wrap="square" lIns="76200" tIns="76200" rIns="76200" bIns="76200" rtlCol="0" anchor="ctr"/>
          <a:lstStyle/>
          <a:p>
            <a:pPr algn="ctr" indent="0" marL="0">
              <a:buNone/>
            </a:pPr>
            <a:endParaRPr lang="en-US" sz="1300" dirty="0"/>
          </a:p>
        </p:txBody>
      </p:sp>
      <p:sp>
        <p:nvSpPr>
          <p:cNvPr id="9" name="Shape 7"/>
          <p:cNvSpPr/>
          <p:nvPr/>
        </p:nvSpPr>
        <p:spPr>
          <a:xfrm>
            <a:off x="7406640" y="2194560"/>
            <a:ext cx="914400" cy="0"/>
          </a:xfrm>
          <a:prstGeom prst="line">
            <a:avLst/>
          </a:prstGeom>
          <a:noFill/>
          <a:ln w="19050">
            <a:solidFill>
              <a:srgbClr val="CBD2DC"/>
            </a:solidFill>
            <a:prstDash val="solid"/>
          </a:ln>
        </p:spPr>
      </p:sp>
      <p:sp>
        <p:nvSpPr>
          <p:cNvPr id="10" name="Shape 8"/>
          <p:cNvSpPr/>
          <p:nvPr/>
        </p:nvSpPr>
        <p:spPr>
          <a:xfrm>
            <a:off x="7406640" y="2468880"/>
            <a:ext cx="914400" cy="0"/>
          </a:xfrm>
          <a:prstGeom prst="line">
            <a:avLst/>
          </a:prstGeom>
          <a:noFill/>
          <a:ln w="19050">
            <a:solidFill>
              <a:srgbClr val="CBD2DC"/>
            </a:solidFill>
            <a:prstDash val="solid"/>
          </a:ln>
        </p:spPr>
      </p:sp>
      <p:sp>
        <p:nvSpPr>
          <p:cNvPr id="11" name="Shape 9"/>
          <p:cNvSpPr/>
          <p:nvPr/>
        </p:nvSpPr>
        <p:spPr>
          <a:xfrm>
            <a:off x="7406640" y="2743200"/>
            <a:ext cx="914400" cy="0"/>
          </a:xfrm>
          <a:prstGeom prst="line">
            <a:avLst/>
          </a:prstGeom>
          <a:noFill/>
          <a:ln w="19050">
            <a:solidFill>
              <a:srgbClr val="CBD2DC"/>
            </a:solidFill>
            <a:prstDash val="solid"/>
          </a:ln>
        </p:spPr>
      </p:sp>
      <p:sp>
        <p:nvSpPr>
          <p:cNvPr id="12" name="Shape 10"/>
          <p:cNvSpPr/>
          <p:nvPr/>
        </p:nvSpPr>
        <p:spPr>
          <a:xfrm>
            <a:off x="7406640" y="3017520"/>
            <a:ext cx="914400" cy="0"/>
          </a:xfrm>
          <a:prstGeom prst="line">
            <a:avLst/>
          </a:prstGeom>
          <a:noFill/>
          <a:ln w="19050">
            <a:solidFill>
              <a:srgbClr val="CBD2DC"/>
            </a:solidFill>
            <a:prstDash val="solid"/>
          </a:ln>
        </p:spPr>
      </p:sp>
      <p:sp>
        <p:nvSpPr>
          <p:cNvPr id="13" name="Arrow"/>
          <p:cNvSpPr/>
          <p:nvPr/>
        </p:nvSpPr>
        <p:spPr>
          <a:xfrm>
            <a:off x="8503920" y="2724912"/>
            <a:ext cx="411480" cy="0"/>
          </a:xfrm>
          <a:prstGeom prst="line">
            <a:avLst/>
          </a:prstGeom>
          <a:noFill/>
          <a:ln w="22225">
            <a:solidFill>
              <a:srgbClr val="9FB0C8"/>
            </a:solidFill>
            <a:prstDash val="solid"/>
            <a:tailEnd type="triangle"/>
          </a:ln>
        </p:spPr>
      </p:sp>
      <p:sp>
        <p:nvSpPr>
          <p:cNvPr id="14" name="Box: AI system OCR → evaluation"/>
          <p:cNvSpPr/>
          <p:nvPr/>
        </p:nvSpPr>
        <p:spPr>
          <a:xfrm>
            <a:off x="8961120" y="2103120"/>
            <a:ext cx="1280160" cy="1234440"/>
          </a:xfrm>
          <a:prstGeom prst="roundRect">
            <a:avLst>
              <a:gd name="adj" fmla="val 5926"/>
            </a:avLst>
          </a:prstGeom>
          <a:solidFill>
            <a:srgbClr val="6D5BD0"/>
          </a:solidFill>
          <a:ln w="12700">
            <a:solidFill>
              <a:srgbClr val="6D5BD0"/>
            </a:solidFill>
          </a:ln>
        </p:spPr>
        <p:txBody>
          <a:bodyPr wrap="square" lIns="76200" tIns="76200" rIns="76200" bIns="762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AI system</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OCR → evaluation</a:t>
            </a:r>
            <a:endParaRPr lang="en-US" sz="1300" dirty="0"/>
          </a:p>
        </p:txBody>
      </p:sp>
      <p:sp>
        <p:nvSpPr>
          <p:cNvPr id="15" name="Arrow"/>
          <p:cNvSpPr/>
          <p:nvPr/>
        </p:nvSpPr>
        <p:spPr>
          <a:xfrm>
            <a:off x="10287000" y="2724912"/>
            <a:ext cx="320040" cy="0"/>
          </a:xfrm>
          <a:prstGeom prst="line">
            <a:avLst/>
          </a:prstGeom>
          <a:noFill/>
          <a:ln w="22225">
            <a:solidFill>
              <a:srgbClr val="9FB0C8"/>
            </a:solidFill>
            <a:prstDash val="solid"/>
            <a:tailEnd type="triangle"/>
          </a:ln>
        </p:spPr>
      </p:sp>
      <p:sp>
        <p:nvSpPr>
          <p:cNvPr id="16" name="Box: Marks Reasoning Feedback"/>
          <p:cNvSpPr/>
          <p:nvPr/>
        </p:nvSpPr>
        <p:spPr>
          <a:xfrm>
            <a:off x="10652760" y="1920240"/>
            <a:ext cx="1005840" cy="1600200"/>
          </a:xfrm>
          <a:prstGeom prst="roundRect">
            <a:avLst>
              <a:gd name="adj" fmla="val 7273"/>
            </a:avLst>
          </a:prstGeom>
          <a:solidFill>
            <a:srgbClr val="FFFFFF"/>
          </a:solidFill>
          <a:ln w="12700">
            <a:solidFill>
              <a:srgbClr val="0F9D9A"/>
            </a:solidFill>
          </a:ln>
        </p:spPr>
        <p:txBody>
          <a:bodyPr wrap="square" lIns="38100" tIns="38100" rIns="38100" bIns="38100" rtlCol="0" anchor="ctr"/>
          <a:lstStyle/>
          <a:p>
            <a:pPr algn="ctr" indent="0" marL="0">
              <a:buNone/>
            </a:pPr>
            <a:r>
              <a:rPr lang="en-US" sz="1200" b="1" dirty="0">
                <a:solidFill>
                  <a:srgbClr val="0B1F3A"/>
                </a:solidFill>
                <a:latin typeface="Calibri" pitchFamily="34" charset="0"/>
                <a:ea typeface="Calibri" pitchFamily="34" charset="-122"/>
                <a:cs typeface="Calibri" pitchFamily="34" charset="-120"/>
              </a:rPr>
              <a:t>Marks</a:t>
            </a:r>
            <a:endParaRPr lang="en-US" sz="1200" dirty="0"/>
          </a:p>
          <a:p>
            <a:pPr algn="ctr" indent="0" marL="0">
              <a:buNone/>
            </a:pPr>
            <a:r>
              <a:rPr lang="en-US" sz="1200" b="1" dirty="0">
                <a:solidFill>
                  <a:srgbClr val="0B1F3A"/>
                </a:solidFill>
                <a:latin typeface="Calibri" pitchFamily="34" charset="0"/>
                <a:ea typeface="Calibri" pitchFamily="34" charset="-122"/>
                <a:cs typeface="Calibri" pitchFamily="34" charset="-120"/>
              </a:rPr>
              <a:t>Reasoning</a:t>
            </a:r>
            <a:endParaRPr lang="en-US" sz="1200" dirty="0"/>
          </a:p>
          <a:p>
            <a:pPr algn="ctr" indent="0" marL="0">
              <a:buNone/>
            </a:pPr>
            <a:r>
              <a:rPr lang="en-US" sz="1200" b="1" dirty="0">
                <a:solidFill>
                  <a:srgbClr val="0B1F3A"/>
                </a:solidFill>
                <a:latin typeface="Calibri" pitchFamily="34" charset="0"/>
                <a:ea typeface="Calibri" pitchFamily="34" charset="-122"/>
                <a:cs typeface="Calibri" pitchFamily="34" charset="-120"/>
              </a:rPr>
              <a:t>Feedback</a:t>
            </a:r>
            <a:endParaRPr lang="en-US" sz="1200" dirty="0"/>
          </a:p>
        </p:txBody>
      </p:sp>
      <p:sp>
        <p:nvSpPr>
          <p:cNvPr id="17" name="Text 15"/>
          <p:cNvSpPr txBox="1"/>
          <p:nvPr/>
        </p:nvSpPr>
        <p:spPr>
          <a:xfrm>
            <a:off x="7269480" y="3657600"/>
            <a:ext cx="1188720" cy="274320"/>
          </a:xfrm>
          <a:prstGeom prst="rect">
            <a:avLst/>
          </a:prstGeom>
          <a:noFill/>
          <a:ln/>
        </p:spPr>
        <p:txBody>
          <a:bodyPr wrap="square" lIns="0" tIns="0" rIns="0" bIns="0" rtlCol="0" anchor="t"/>
          <a:lstStyle/>
          <a:p>
            <a:pPr algn="ctr" indent="0" marL="0">
              <a:buNone/>
            </a:pPr>
            <a:r>
              <a:rPr lang="en-US" sz="1200" dirty="0">
                <a:solidFill>
                  <a:srgbClr val="9FB0C8"/>
                </a:solidFill>
                <a:latin typeface="Calibri" pitchFamily="34" charset="0"/>
                <a:ea typeface="Calibri" pitchFamily="34" charset="-122"/>
                <a:cs typeface="Calibri" pitchFamily="34" charset="-120"/>
              </a:rPr>
              <a:t>Answer sheet</a:t>
            </a:r>
            <a:endParaRPr lang="en-US" sz="1200" dirty="0"/>
          </a:p>
        </p:txBody>
      </p:sp>
      <p:sp>
        <p:nvSpPr>
          <p:cNvPr id="18" name="Text 16"/>
          <p:cNvSpPr txBox="1"/>
          <p:nvPr/>
        </p:nvSpPr>
        <p:spPr>
          <a:xfrm>
            <a:off x="8961120" y="3657600"/>
            <a:ext cx="1280160" cy="274320"/>
          </a:xfrm>
          <a:prstGeom prst="rect">
            <a:avLst/>
          </a:prstGeom>
          <a:noFill/>
          <a:ln/>
        </p:spPr>
        <p:txBody>
          <a:bodyPr wrap="square" lIns="0" tIns="0" rIns="0" bIns="0" rtlCol="0" anchor="t"/>
          <a:lstStyle/>
          <a:p>
            <a:pPr algn="ctr" indent="0" marL="0">
              <a:buNone/>
            </a:pPr>
            <a:r>
              <a:rPr lang="en-US" sz="1200" dirty="0">
                <a:solidFill>
                  <a:srgbClr val="9FB0C8"/>
                </a:solidFill>
                <a:latin typeface="Calibri" pitchFamily="34" charset="0"/>
                <a:ea typeface="Calibri" pitchFamily="34" charset="-122"/>
                <a:cs typeface="Calibri" pitchFamily="34" charset="-120"/>
              </a:rPr>
              <a:t>AI system</a:t>
            </a:r>
            <a:endParaRPr lang="en-US" sz="1200" dirty="0"/>
          </a:p>
        </p:txBody>
      </p:sp>
      <p:sp>
        <p:nvSpPr>
          <p:cNvPr id="19" name="Text 17"/>
          <p:cNvSpPr txBox="1"/>
          <p:nvPr/>
        </p:nvSpPr>
        <p:spPr>
          <a:xfrm>
            <a:off x="10652760" y="3657600"/>
            <a:ext cx="1005840" cy="274320"/>
          </a:xfrm>
          <a:prstGeom prst="rect">
            <a:avLst/>
          </a:prstGeom>
          <a:noFill/>
          <a:ln/>
        </p:spPr>
        <p:txBody>
          <a:bodyPr wrap="square" lIns="0" tIns="0" rIns="0" bIns="0" rtlCol="0" anchor="t"/>
          <a:lstStyle/>
          <a:p>
            <a:pPr algn="ctr" indent="0" marL="0">
              <a:buNone/>
            </a:pPr>
            <a:r>
              <a:rPr lang="en-US" sz="1200" dirty="0">
                <a:solidFill>
                  <a:srgbClr val="9FB0C8"/>
                </a:solidFill>
                <a:latin typeface="Calibri" pitchFamily="34" charset="0"/>
                <a:ea typeface="Calibri" pitchFamily="34" charset="-122"/>
                <a:cs typeface="Calibri" pitchFamily="34" charset="-120"/>
              </a:rPr>
              <a:t>Evaluation</a:t>
            </a:r>
            <a:endParaRPr lang="en-US" sz="1200" dirty="0"/>
          </a:p>
        </p:txBody>
      </p:sp>
      <p:sp>
        <p:nvSpPr>
          <p:cNvPr id="20" name="Text 18"/>
          <p:cNvSpPr txBox="1"/>
          <p:nvPr/>
        </p:nvSpPr>
        <p:spPr>
          <a:xfrm>
            <a:off x="548640" y="4983480"/>
            <a:ext cx="5486400" cy="274320"/>
          </a:xfrm>
          <a:prstGeom prst="rect">
            <a:avLst/>
          </a:prstGeom>
          <a:noFill/>
          <a:ln/>
        </p:spPr>
        <p:txBody>
          <a:bodyPr wrap="square" lIns="0" tIns="0" rIns="0" bIns="0" rtlCol="0" anchor="t"/>
          <a:lstStyle/>
          <a:p>
            <a:pPr algn="l" indent="0" marL="0">
              <a:buNone/>
            </a:pPr>
            <a:r>
              <a:rPr lang="en-US" sz="1200" b="1" spc="200" kern="0" dirty="0">
                <a:solidFill>
                  <a:srgbClr val="9FB0C8"/>
                </a:solidFill>
                <a:latin typeface="Calibri" pitchFamily="34" charset="0"/>
                <a:ea typeface="Calibri" pitchFamily="34" charset="-122"/>
                <a:cs typeface="Calibri" pitchFamily="34" charset="-120"/>
              </a:rPr>
              <a:t>PRESENTER DETAILS (EDIT)</a:t>
            </a:r>
            <a:endParaRPr lang="en-US" sz="1200" dirty="0"/>
          </a:p>
        </p:txBody>
      </p:sp>
      <p:sp>
        <p:nvSpPr>
          <p:cNvPr id="21" name="Box: [Student name]"/>
          <p:cNvSpPr/>
          <p:nvPr/>
        </p:nvSpPr>
        <p:spPr>
          <a:xfrm>
            <a:off x="548640" y="5349240"/>
            <a:ext cx="2103120" cy="548640"/>
          </a:xfrm>
          <a:prstGeom prst="roundRect">
            <a:avLst>
              <a:gd name="adj" fmla="val 13333"/>
            </a:avLst>
          </a:prstGeom>
          <a:solidFill>
            <a:srgbClr val="12305A"/>
          </a:solidFill>
          <a:ln w="19050">
            <a:solidFill>
              <a:srgbClr val="9FB0C8"/>
            </a:solidFill>
            <a:prstDash val="dash"/>
          </a:ln>
        </p:spPr>
        <p:txBody>
          <a:bodyPr wrap="square" lIns="76200" tIns="76200" rIns="76200" bIns="76200" rtlCol="0" anchor="ctr"/>
          <a:lstStyle/>
          <a:p>
            <a:pPr algn="ctr" indent="0" marL="0">
              <a:buNone/>
            </a:pPr>
            <a:r>
              <a:rPr lang="en-US" sz="1400" dirty="0">
                <a:solidFill>
                  <a:srgbClr val="DCE6F5"/>
                </a:solidFill>
                <a:latin typeface="Calibri" pitchFamily="34" charset="0"/>
                <a:ea typeface="Calibri" pitchFamily="34" charset="-122"/>
                <a:cs typeface="Calibri" pitchFamily="34" charset="-120"/>
              </a:rPr>
              <a:t>[Student name]</a:t>
            </a:r>
            <a:endParaRPr lang="en-US" sz="1400" dirty="0"/>
          </a:p>
        </p:txBody>
      </p:sp>
      <p:sp>
        <p:nvSpPr>
          <p:cNvPr id="22" name="Box: [Enrollment number]"/>
          <p:cNvSpPr/>
          <p:nvPr/>
        </p:nvSpPr>
        <p:spPr>
          <a:xfrm>
            <a:off x="2788920" y="5349240"/>
            <a:ext cx="2103120" cy="548640"/>
          </a:xfrm>
          <a:prstGeom prst="roundRect">
            <a:avLst>
              <a:gd name="adj" fmla="val 13333"/>
            </a:avLst>
          </a:prstGeom>
          <a:solidFill>
            <a:srgbClr val="12305A"/>
          </a:solidFill>
          <a:ln w="19050">
            <a:solidFill>
              <a:srgbClr val="9FB0C8"/>
            </a:solidFill>
            <a:prstDash val="dash"/>
          </a:ln>
        </p:spPr>
        <p:txBody>
          <a:bodyPr wrap="square" lIns="76200" tIns="76200" rIns="76200" bIns="76200" rtlCol="0" anchor="ctr"/>
          <a:lstStyle/>
          <a:p>
            <a:pPr algn="ctr" indent="0" marL="0">
              <a:buNone/>
            </a:pPr>
            <a:r>
              <a:rPr lang="en-US" sz="1400" dirty="0">
                <a:solidFill>
                  <a:srgbClr val="DCE6F5"/>
                </a:solidFill>
                <a:latin typeface="Calibri" pitchFamily="34" charset="0"/>
                <a:ea typeface="Calibri" pitchFamily="34" charset="-122"/>
                <a:cs typeface="Calibri" pitchFamily="34" charset="-120"/>
              </a:rPr>
              <a:t>[Enrollment number]</a:t>
            </a:r>
            <a:endParaRPr lang="en-US" sz="1400" dirty="0"/>
          </a:p>
        </p:txBody>
      </p:sp>
      <p:sp>
        <p:nvSpPr>
          <p:cNvPr id="23" name="Box: [Faculty guide]"/>
          <p:cNvSpPr/>
          <p:nvPr/>
        </p:nvSpPr>
        <p:spPr>
          <a:xfrm>
            <a:off x="5029200" y="5349240"/>
            <a:ext cx="2103120" cy="548640"/>
          </a:xfrm>
          <a:prstGeom prst="roundRect">
            <a:avLst>
              <a:gd name="adj" fmla="val 13333"/>
            </a:avLst>
          </a:prstGeom>
          <a:solidFill>
            <a:srgbClr val="12305A"/>
          </a:solidFill>
          <a:ln w="19050">
            <a:solidFill>
              <a:srgbClr val="9FB0C8"/>
            </a:solidFill>
            <a:prstDash val="dash"/>
          </a:ln>
        </p:spPr>
        <p:txBody>
          <a:bodyPr wrap="square" lIns="76200" tIns="76200" rIns="76200" bIns="76200" rtlCol="0" anchor="ctr"/>
          <a:lstStyle/>
          <a:p>
            <a:pPr algn="ctr" indent="0" marL="0">
              <a:buNone/>
            </a:pPr>
            <a:r>
              <a:rPr lang="en-US" sz="1400" dirty="0">
                <a:solidFill>
                  <a:srgbClr val="DCE6F5"/>
                </a:solidFill>
                <a:latin typeface="Calibri" pitchFamily="34" charset="0"/>
                <a:ea typeface="Calibri" pitchFamily="34" charset="-122"/>
                <a:cs typeface="Calibri" pitchFamily="34" charset="-120"/>
              </a:rPr>
              <a:t>[Faculty guide]</a:t>
            </a:r>
            <a:endParaRPr lang="en-US" sz="1400" dirty="0"/>
          </a:p>
        </p:txBody>
      </p:sp>
      <p:sp>
        <p:nvSpPr>
          <p:cNvPr id="24" name="Box: [Department]"/>
          <p:cNvSpPr/>
          <p:nvPr/>
        </p:nvSpPr>
        <p:spPr>
          <a:xfrm>
            <a:off x="7269480" y="5349240"/>
            <a:ext cx="2103120" cy="548640"/>
          </a:xfrm>
          <a:prstGeom prst="roundRect">
            <a:avLst>
              <a:gd name="adj" fmla="val 13333"/>
            </a:avLst>
          </a:prstGeom>
          <a:solidFill>
            <a:srgbClr val="12305A"/>
          </a:solidFill>
          <a:ln w="19050">
            <a:solidFill>
              <a:srgbClr val="9FB0C8"/>
            </a:solidFill>
            <a:prstDash val="dash"/>
          </a:ln>
        </p:spPr>
        <p:txBody>
          <a:bodyPr wrap="square" lIns="76200" tIns="76200" rIns="76200" bIns="76200" rtlCol="0" anchor="ctr"/>
          <a:lstStyle/>
          <a:p>
            <a:pPr algn="ctr" indent="0" marL="0">
              <a:buNone/>
            </a:pPr>
            <a:r>
              <a:rPr lang="en-US" sz="1400" dirty="0">
                <a:solidFill>
                  <a:srgbClr val="DCE6F5"/>
                </a:solidFill>
                <a:latin typeface="Calibri" pitchFamily="34" charset="0"/>
                <a:ea typeface="Calibri" pitchFamily="34" charset="-122"/>
                <a:cs typeface="Calibri" pitchFamily="34" charset="-120"/>
              </a:rPr>
              <a:t>[Department]</a:t>
            </a:r>
            <a:endParaRPr lang="en-US" sz="1400" dirty="0"/>
          </a:p>
        </p:txBody>
      </p:sp>
      <p:sp>
        <p:nvSpPr>
          <p:cNvPr id="25" name="Box: [Institution]"/>
          <p:cNvSpPr/>
          <p:nvPr/>
        </p:nvSpPr>
        <p:spPr>
          <a:xfrm>
            <a:off x="9509760" y="5349240"/>
            <a:ext cx="2103120" cy="548640"/>
          </a:xfrm>
          <a:prstGeom prst="roundRect">
            <a:avLst>
              <a:gd name="adj" fmla="val 13333"/>
            </a:avLst>
          </a:prstGeom>
          <a:solidFill>
            <a:srgbClr val="12305A"/>
          </a:solidFill>
          <a:ln w="19050">
            <a:solidFill>
              <a:srgbClr val="9FB0C8"/>
            </a:solidFill>
            <a:prstDash val="dash"/>
          </a:ln>
        </p:spPr>
        <p:txBody>
          <a:bodyPr wrap="square" lIns="76200" tIns="76200" rIns="76200" bIns="76200" rtlCol="0" anchor="ctr"/>
          <a:lstStyle/>
          <a:p>
            <a:pPr algn="ctr" indent="0" marL="0">
              <a:buNone/>
            </a:pPr>
            <a:r>
              <a:rPr lang="en-US" sz="1400" dirty="0">
                <a:solidFill>
                  <a:srgbClr val="DCE6F5"/>
                </a:solidFill>
                <a:latin typeface="Calibri" pitchFamily="34" charset="0"/>
                <a:ea typeface="Calibri" pitchFamily="34" charset="-122"/>
                <a:cs typeface="Calibri" pitchFamily="34" charset="-120"/>
              </a:rPr>
              <a:t>[Institution]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rgbClr val="0B1F3A"/>
                </a:solidFill>
                <a:latin typeface="Calibri" pitchFamily="34" charset="0"/>
                <a:ea typeface="Calibri" pitchFamily="34" charset="-122"/>
                <a:cs typeface="Calibri" pitchFamily="34" charset="-120"/>
              </a:rPr>
              <a:t>Problem and Project Objectives</a:t>
            </a:r>
            <a:endParaRPr lang="en-US" sz="2800" dirty="0"/>
          </a:p>
        </p:txBody>
      </p:sp>
      <p:sp>
        <p:nvSpPr>
          <p:cNvPr id="3" name="Text 1"/>
          <p:cNvSpPr txBox="1"/>
          <p:nvPr/>
        </p:nvSpPr>
        <p:spPr>
          <a:xfrm>
            <a:off x="548640" y="1097280"/>
            <a:ext cx="5760720" cy="1371600"/>
          </a:xfrm>
          <a:prstGeom prst="rect">
            <a:avLst/>
          </a:prstGeom>
          <a:noFill/>
          <a:ln/>
        </p:spPr>
        <p:txBody>
          <a:bodyPr wrap="square" lIns="0" tIns="0" rIns="0" bIns="0" rtlCol="0" anchor="t"/>
          <a:lstStyle/>
          <a:p>
            <a:pPr indent="0" marL="0">
              <a:spcAft>
                <a:spcPts val="200"/>
              </a:spcAft>
              <a:buNone/>
            </a:pPr>
            <a:r>
              <a:rPr lang="en-US" sz="1700" b="1" dirty="0">
                <a:solidFill>
                  <a:srgbClr val="0B1F3A"/>
                </a:solidFill>
                <a:latin typeface="Calibri" pitchFamily="34" charset="0"/>
                <a:ea typeface="Calibri" pitchFamily="34" charset="-122"/>
                <a:cs typeface="Calibri" pitchFamily="34" charset="-120"/>
              </a:rPr>
              <a:t>The problem</a:t>
            </a:r>
            <a:endParaRPr lang="en-US" sz="1500" dirty="0"/>
          </a:p>
          <a:p>
            <a:pPr indent="0" marL="0">
              <a:spcAft>
                <a:spcPts val="300"/>
              </a:spcAft>
              <a:buNone/>
            </a:pPr>
            <a:r>
              <a:rPr lang="en-US" sz="1500" dirty="0">
                <a:solidFill>
                  <a:srgbClr val="1F2937"/>
                </a:solidFill>
                <a:latin typeface="Calibri" pitchFamily="34" charset="0"/>
                <a:ea typeface="Calibri" pitchFamily="34" charset="-122"/>
                <a:cs typeface="Calibri" pitchFamily="34" charset="-120"/>
              </a:rPr>
              <a:t>Grading a handwritten answer sheet means reading it, comparing it with the teacher's reference answer, and judging it against the marking criteria. AI-Tutor aims to support this process using OCR and AI.</a:t>
            </a:r>
            <a:endParaRPr lang="en-US" sz="1500" dirty="0"/>
          </a:p>
        </p:txBody>
      </p:sp>
      <p:sp>
        <p:nvSpPr>
          <p:cNvPr id="4" name="Text 2"/>
          <p:cNvSpPr txBox="1"/>
          <p:nvPr/>
        </p:nvSpPr>
        <p:spPr>
          <a:xfrm>
            <a:off x="548640" y="2606040"/>
            <a:ext cx="5486400" cy="274320"/>
          </a:xfrm>
          <a:prstGeom prst="rect">
            <a:avLst/>
          </a:prstGeom>
          <a:noFill/>
          <a:ln/>
        </p:spPr>
        <p:txBody>
          <a:bodyPr wrap="square" lIns="0" tIns="0" rIns="0" bIns="0" rtlCol="0" anchor="t"/>
          <a:lstStyle/>
          <a:p>
            <a:pPr algn="l" indent="0" marL="0">
              <a:buNone/>
            </a:pPr>
            <a:r>
              <a:rPr lang="en-US" sz="1700" b="1" dirty="0">
                <a:solidFill>
                  <a:srgbClr val="0B1F3A"/>
                </a:solidFill>
                <a:latin typeface="Calibri" pitchFamily="34" charset="0"/>
                <a:ea typeface="Calibri" pitchFamily="34" charset="-122"/>
                <a:cs typeface="Calibri" pitchFamily="34" charset="-120"/>
              </a:rPr>
              <a:t>Project objectives</a:t>
            </a:r>
            <a:endParaRPr lang="en-US" sz="1700" dirty="0"/>
          </a:p>
        </p:txBody>
      </p:sp>
      <p:sp>
        <p:nvSpPr>
          <p:cNvPr id="5" name="Step 1"/>
          <p:cNvSpPr/>
          <p:nvPr/>
        </p:nvSpPr>
        <p:spPr>
          <a:xfrm>
            <a:off x="548640" y="3044952"/>
            <a:ext cx="310896" cy="310896"/>
          </a:xfrm>
          <a:prstGeom prst="ellipse">
            <a:avLst/>
          </a:prstGeom>
          <a:solidFill>
            <a:srgbClr val="0F9D9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005840" y="3017520"/>
            <a:ext cx="5303520" cy="640080"/>
          </a:xfrm>
          <a:prstGeom prst="rect">
            <a:avLst/>
          </a:prstGeom>
          <a:noFill/>
          <a:ln/>
        </p:spPr>
        <p:txBody>
          <a:bodyPr wrap="square" lIns="0" tIns="0" rIns="0" bIns="0" rtlCol="0" anchor="t"/>
          <a:lstStyle/>
          <a:p>
            <a:pPr algn="l" indent="0" marL="0">
              <a:buNone/>
            </a:pPr>
            <a:r>
              <a:rPr lang="en-US" sz="1450" dirty="0">
                <a:solidFill>
                  <a:srgbClr val="1F2937"/>
                </a:solidFill>
                <a:latin typeface="Calibri" pitchFamily="34" charset="0"/>
                <a:ea typeface="Calibri" pitchFamily="34" charset="-122"/>
                <a:cs typeface="Calibri" pitchFamily="34" charset="-120"/>
              </a:rPr>
              <a:t>Extract document text using selectable OCR engines.</a:t>
            </a:r>
            <a:endParaRPr lang="en-US" sz="1450" dirty="0"/>
          </a:p>
        </p:txBody>
      </p:sp>
      <p:sp>
        <p:nvSpPr>
          <p:cNvPr id="7" name="Step 2"/>
          <p:cNvSpPr/>
          <p:nvPr/>
        </p:nvSpPr>
        <p:spPr>
          <a:xfrm>
            <a:off x="548640" y="3758184"/>
            <a:ext cx="310896" cy="310896"/>
          </a:xfrm>
          <a:prstGeom prst="ellipse">
            <a:avLst/>
          </a:prstGeom>
          <a:solidFill>
            <a:srgbClr val="0F9D9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8" name="Text 6"/>
          <p:cNvSpPr txBox="1"/>
          <p:nvPr/>
        </p:nvSpPr>
        <p:spPr>
          <a:xfrm>
            <a:off x="1005840" y="3730752"/>
            <a:ext cx="5303520" cy="640080"/>
          </a:xfrm>
          <a:prstGeom prst="rect">
            <a:avLst/>
          </a:prstGeom>
          <a:noFill/>
          <a:ln/>
        </p:spPr>
        <p:txBody>
          <a:bodyPr wrap="square" lIns="0" tIns="0" rIns="0" bIns="0" rtlCol="0" anchor="t"/>
          <a:lstStyle/>
          <a:p>
            <a:pPr algn="l" indent="0" marL="0">
              <a:buNone/>
            </a:pPr>
            <a:r>
              <a:rPr lang="en-US" sz="1450" dirty="0">
                <a:solidFill>
                  <a:srgbClr val="1F2937"/>
                </a:solidFill>
                <a:latin typeface="Calibri" pitchFamily="34" charset="0"/>
                <a:ea typeface="Calibri" pitchFamily="34" charset="-122"/>
                <a:cs typeface="Calibri" pitchFamily="34" charset="-120"/>
              </a:rPr>
              <a:t>Structure teacher-provided questions, model answers, marks, and rubrics.</a:t>
            </a:r>
            <a:endParaRPr lang="en-US" sz="1450" dirty="0"/>
          </a:p>
        </p:txBody>
      </p:sp>
      <p:sp>
        <p:nvSpPr>
          <p:cNvPr id="9" name="Step 3"/>
          <p:cNvSpPr/>
          <p:nvPr/>
        </p:nvSpPr>
        <p:spPr>
          <a:xfrm>
            <a:off x="548640" y="4471416"/>
            <a:ext cx="310896" cy="310896"/>
          </a:xfrm>
          <a:prstGeom prst="ellipse">
            <a:avLst/>
          </a:prstGeom>
          <a:solidFill>
            <a:srgbClr val="0F9D9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0" name="Text 8"/>
          <p:cNvSpPr txBox="1"/>
          <p:nvPr/>
        </p:nvSpPr>
        <p:spPr>
          <a:xfrm>
            <a:off x="1005840" y="4443984"/>
            <a:ext cx="5303520" cy="640080"/>
          </a:xfrm>
          <a:prstGeom prst="rect">
            <a:avLst/>
          </a:prstGeom>
          <a:noFill/>
          <a:ln/>
        </p:spPr>
        <p:txBody>
          <a:bodyPr wrap="square" lIns="0" tIns="0" rIns="0" bIns="0" rtlCol="0" anchor="t"/>
          <a:lstStyle/>
          <a:p>
            <a:pPr algn="l" indent="0" marL="0">
              <a:buNone/>
            </a:pPr>
            <a:r>
              <a:rPr lang="en-US" sz="1450" dirty="0">
                <a:solidFill>
                  <a:srgbClr val="1F2937"/>
                </a:solidFill>
                <a:latin typeface="Calibri" pitchFamily="34" charset="0"/>
                <a:ea typeface="Calibri" pitchFamily="34" charset="-122"/>
                <a:cs typeface="Calibri" pitchFamily="34" charset="-120"/>
              </a:rPr>
              <a:t>Map student responses to the appropriate questions.</a:t>
            </a:r>
            <a:endParaRPr lang="en-US" sz="1450" dirty="0"/>
          </a:p>
        </p:txBody>
      </p:sp>
      <p:sp>
        <p:nvSpPr>
          <p:cNvPr id="11" name="Step 4"/>
          <p:cNvSpPr/>
          <p:nvPr/>
        </p:nvSpPr>
        <p:spPr>
          <a:xfrm>
            <a:off x="548640" y="5184648"/>
            <a:ext cx="310896" cy="310896"/>
          </a:xfrm>
          <a:prstGeom prst="ellipse">
            <a:avLst/>
          </a:prstGeom>
          <a:solidFill>
            <a:srgbClr val="0F9D9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2" name="Text 10"/>
          <p:cNvSpPr txBox="1"/>
          <p:nvPr/>
        </p:nvSpPr>
        <p:spPr>
          <a:xfrm>
            <a:off x="1005840" y="5157216"/>
            <a:ext cx="5303520" cy="640080"/>
          </a:xfrm>
          <a:prstGeom prst="rect">
            <a:avLst/>
          </a:prstGeom>
          <a:noFill/>
          <a:ln/>
        </p:spPr>
        <p:txBody>
          <a:bodyPr wrap="square" lIns="0" tIns="0" rIns="0" bIns="0" rtlCol="0" anchor="t"/>
          <a:lstStyle/>
          <a:p>
            <a:pPr algn="l" indent="0" marL="0">
              <a:buNone/>
            </a:pPr>
            <a:r>
              <a:rPr lang="en-US" sz="1450" dirty="0">
                <a:solidFill>
                  <a:srgbClr val="1F2937"/>
                </a:solidFill>
                <a:latin typeface="Calibri" pitchFamily="34" charset="0"/>
                <a:ea typeface="Calibri" pitchFamily="34" charset="-122"/>
                <a:cs typeface="Calibri" pitchFamily="34" charset="-120"/>
              </a:rPr>
              <a:t>Generate explainable marks and feedback through rubric-based AI evaluation.</a:t>
            </a:r>
            <a:endParaRPr lang="en-US" sz="1450" dirty="0"/>
          </a:p>
        </p:txBody>
      </p:sp>
      <p:sp>
        <p:nvSpPr>
          <p:cNvPr id="13" name="Text 11"/>
          <p:cNvSpPr txBox="1"/>
          <p:nvPr/>
        </p:nvSpPr>
        <p:spPr>
          <a:xfrm>
            <a:off x="548640" y="5897880"/>
            <a:ext cx="5760720" cy="411480"/>
          </a:xfrm>
          <a:prstGeom prst="rect">
            <a:avLst/>
          </a:prstGeom>
          <a:noFill/>
          <a:ln/>
        </p:spPr>
        <p:txBody>
          <a:bodyPr wrap="square" lIns="0" tIns="0" rIns="0" bIns="0" rtlCol="0" anchor="t"/>
          <a:lstStyle/>
          <a:p>
            <a:pPr algn="l" indent="0" marL="0">
              <a:buNone/>
            </a:pPr>
            <a:r>
              <a:rPr lang="en-US" sz="1200" i="1" dirty="0">
                <a:solidFill>
                  <a:srgbClr val="5B6577"/>
                </a:solidFill>
                <a:latin typeface="Calibri" pitchFamily="34" charset="0"/>
                <a:ea typeface="Calibri" pitchFamily="34" charset="-122"/>
                <a:cs typeface="Calibri" pitchFamily="34" charset="-120"/>
              </a:rPr>
              <a:t>No time-saving or accuracy claims are made; the project has no measurements to support them.</a:t>
            </a:r>
            <a:endParaRPr lang="en-US" sz="1200" dirty="0"/>
          </a:p>
        </p:txBody>
      </p:sp>
      <p:sp>
        <p:nvSpPr>
          <p:cNvPr id="14" name="Box: "/>
          <p:cNvSpPr/>
          <p:nvPr/>
        </p:nvSpPr>
        <p:spPr>
          <a:xfrm>
            <a:off x="6675120" y="1097280"/>
            <a:ext cx="4937760" cy="5166360"/>
          </a:xfrm>
          <a:prstGeom prst="rect">
            <a:avLst>
              <a:gd name="adj" fmla="val 1481"/>
            </a:avLst>
          </a:prstGeom>
          <a:solidFill>
            <a:srgbClr val="FFFFFF"/>
          </a:solidFill>
          <a:ln w="12700">
            <a:solidFill>
              <a:srgbClr val="CBD2DC"/>
            </a:solidFill>
          </a:ln>
        </p:spPr>
        <p:txBody>
          <a:bodyPr wrap="square" lIns="76200" tIns="76200" rIns="76200" bIns="76200" rtlCol="0" anchor="ctr"/>
          <a:lstStyle/>
          <a:p>
            <a:pPr algn="ctr" indent="0" marL="0">
              <a:buNone/>
            </a:pPr>
            <a:endParaRPr lang="en-US" sz="1300" dirty="0"/>
          </a:p>
        </p:txBody>
      </p:sp>
      <p:sp>
        <p:nvSpPr>
          <p:cNvPr id="15" name="Text 13"/>
          <p:cNvSpPr txBox="1"/>
          <p:nvPr/>
        </p:nvSpPr>
        <p:spPr>
          <a:xfrm>
            <a:off x="6858000" y="1234440"/>
            <a:ext cx="2103120" cy="228600"/>
          </a:xfrm>
          <a:prstGeom prst="rect">
            <a:avLst/>
          </a:prstGeom>
          <a:noFill/>
          <a:ln/>
        </p:spPr>
        <p:txBody>
          <a:bodyPr wrap="square" lIns="0" tIns="0" rIns="0" bIns="0" rtlCol="0" anchor="t"/>
          <a:lstStyle/>
          <a:p>
            <a:pPr algn="l" indent="0" marL="0">
              <a:buNone/>
            </a:pPr>
            <a:r>
              <a:rPr lang="en-US" sz="1100" b="1" spc="200" kern="0" dirty="0">
                <a:solidFill>
                  <a:srgbClr val="5B6577"/>
                </a:solidFill>
                <a:latin typeface="Calibri" pitchFamily="34" charset="0"/>
                <a:ea typeface="Calibri" pitchFamily="34" charset="-122"/>
                <a:cs typeface="Calibri" pitchFamily="34" charset="-120"/>
              </a:rPr>
              <a:t>TRADITIONAL</a:t>
            </a:r>
            <a:endParaRPr lang="en-US" sz="1100" dirty="0"/>
          </a:p>
        </p:txBody>
      </p:sp>
      <p:sp>
        <p:nvSpPr>
          <p:cNvPr id="16" name="Text 14"/>
          <p:cNvSpPr txBox="1"/>
          <p:nvPr/>
        </p:nvSpPr>
        <p:spPr>
          <a:xfrm>
            <a:off x="9189720" y="1234440"/>
            <a:ext cx="2286000" cy="228600"/>
          </a:xfrm>
          <a:prstGeom prst="rect">
            <a:avLst/>
          </a:prstGeom>
          <a:noFill/>
          <a:ln/>
        </p:spPr>
        <p:txBody>
          <a:bodyPr wrap="square" lIns="0" tIns="0" rIns="0" bIns="0" rtlCol="0" anchor="t"/>
          <a:lstStyle/>
          <a:p>
            <a:pPr algn="l" indent="0" marL="0">
              <a:buNone/>
            </a:pPr>
            <a:r>
              <a:rPr lang="en-US" sz="1100" b="1" spc="200" kern="0" dirty="0">
                <a:solidFill>
                  <a:srgbClr val="0F9D9A"/>
                </a:solidFill>
                <a:latin typeface="Calibri" pitchFamily="34" charset="0"/>
                <a:ea typeface="Calibri" pitchFamily="34" charset="-122"/>
                <a:cs typeface="Calibri" pitchFamily="34" charset="-120"/>
              </a:rPr>
              <a:t>AI-TUTOR (INTENDED)</a:t>
            </a:r>
            <a:endParaRPr lang="en-US" sz="1100" dirty="0"/>
          </a:p>
        </p:txBody>
      </p:sp>
      <p:sp>
        <p:nvSpPr>
          <p:cNvPr id="17" name="Box: Read answer sheet"/>
          <p:cNvSpPr/>
          <p:nvPr/>
        </p:nvSpPr>
        <p:spPr>
          <a:xfrm>
            <a:off x="6858000" y="1645920"/>
            <a:ext cx="2103120" cy="594360"/>
          </a:xfrm>
          <a:prstGeom prst="roundRect">
            <a:avLst>
              <a:gd name="adj" fmla="val 12308"/>
            </a:avLst>
          </a:prstGeom>
          <a:solidFill>
            <a:srgbClr val="E6E9EE"/>
          </a:solidFill>
          <a:ln w="12700">
            <a:solidFill>
              <a:srgbClr val="B8C0CC"/>
            </a:solidFill>
          </a:ln>
        </p:spPr>
        <p:txBody>
          <a:bodyPr wrap="square" lIns="76200" tIns="76200" rIns="76200" bIns="76200" rtlCol="0" anchor="ctr"/>
          <a:lstStyle/>
          <a:p>
            <a:pPr algn="ctr" indent="0" marL="0">
              <a:buNone/>
            </a:pPr>
            <a:r>
              <a:rPr lang="en-US" sz="1250" dirty="0">
                <a:solidFill>
                  <a:srgbClr val="5B6577"/>
                </a:solidFill>
                <a:latin typeface="Calibri" pitchFamily="34" charset="0"/>
                <a:ea typeface="Calibri" pitchFamily="34" charset="-122"/>
                <a:cs typeface="Calibri" pitchFamily="34" charset="-120"/>
              </a:rPr>
              <a:t>Read answer sheet</a:t>
            </a:r>
            <a:endParaRPr lang="en-US" sz="1250" dirty="0"/>
          </a:p>
        </p:txBody>
      </p:sp>
      <p:sp>
        <p:nvSpPr>
          <p:cNvPr id="18" name="Arrow"/>
          <p:cNvSpPr/>
          <p:nvPr/>
        </p:nvSpPr>
        <p:spPr>
          <a:xfrm>
            <a:off x="7909560" y="2258568"/>
            <a:ext cx="0" cy="237744"/>
          </a:xfrm>
          <a:prstGeom prst="line">
            <a:avLst/>
          </a:prstGeom>
          <a:noFill/>
          <a:ln w="22225">
            <a:solidFill>
              <a:srgbClr val="5B6577"/>
            </a:solidFill>
            <a:prstDash val="solid"/>
            <a:tailEnd type="triangle"/>
          </a:ln>
        </p:spPr>
      </p:sp>
      <p:sp>
        <p:nvSpPr>
          <p:cNvPr id="19" name="Box: Compare with reference answer"/>
          <p:cNvSpPr/>
          <p:nvPr/>
        </p:nvSpPr>
        <p:spPr>
          <a:xfrm>
            <a:off x="6858000" y="2514600"/>
            <a:ext cx="2103120" cy="594360"/>
          </a:xfrm>
          <a:prstGeom prst="roundRect">
            <a:avLst>
              <a:gd name="adj" fmla="val 12308"/>
            </a:avLst>
          </a:prstGeom>
          <a:solidFill>
            <a:srgbClr val="E6E9EE"/>
          </a:solidFill>
          <a:ln w="12700">
            <a:solidFill>
              <a:srgbClr val="B8C0CC"/>
            </a:solidFill>
          </a:ln>
        </p:spPr>
        <p:txBody>
          <a:bodyPr wrap="square" lIns="76200" tIns="76200" rIns="76200" bIns="76200" rtlCol="0" anchor="ctr"/>
          <a:lstStyle/>
          <a:p>
            <a:pPr algn="ctr" indent="0" marL="0">
              <a:buNone/>
            </a:pPr>
            <a:r>
              <a:rPr lang="en-US" sz="1250" dirty="0">
                <a:solidFill>
                  <a:srgbClr val="5B6577"/>
                </a:solidFill>
                <a:latin typeface="Calibri" pitchFamily="34" charset="0"/>
                <a:ea typeface="Calibri" pitchFamily="34" charset="-122"/>
                <a:cs typeface="Calibri" pitchFamily="34" charset="-120"/>
              </a:rPr>
              <a:t>Compare with reference answer</a:t>
            </a:r>
            <a:endParaRPr lang="en-US" sz="1250" dirty="0"/>
          </a:p>
        </p:txBody>
      </p:sp>
      <p:sp>
        <p:nvSpPr>
          <p:cNvPr id="20" name="Arrow"/>
          <p:cNvSpPr/>
          <p:nvPr/>
        </p:nvSpPr>
        <p:spPr>
          <a:xfrm>
            <a:off x="7909560" y="3127248"/>
            <a:ext cx="0" cy="237744"/>
          </a:xfrm>
          <a:prstGeom prst="line">
            <a:avLst/>
          </a:prstGeom>
          <a:noFill/>
          <a:ln w="22225">
            <a:solidFill>
              <a:srgbClr val="5B6577"/>
            </a:solidFill>
            <a:prstDash val="solid"/>
            <a:tailEnd type="triangle"/>
          </a:ln>
        </p:spPr>
      </p:sp>
      <p:sp>
        <p:nvSpPr>
          <p:cNvPr id="21" name="Box: Apply marking criteria"/>
          <p:cNvSpPr/>
          <p:nvPr/>
        </p:nvSpPr>
        <p:spPr>
          <a:xfrm>
            <a:off x="6858000" y="3383280"/>
            <a:ext cx="2103120" cy="594360"/>
          </a:xfrm>
          <a:prstGeom prst="roundRect">
            <a:avLst>
              <a:gd name="adj" fmla="val 12308"/>
            </a:avLst>
          </a:prstGeom>
          <a:solidFill>
            <a:srgbClr val="E6E9EE"/>
          </a:solidFill>
          <a:ln w="12700">
            <a:solidFill>
              <a:srgbClr val="B8C0CC"/>
            </a:solidFill>
          </a:ln>
        </p:spPr>
        <p:txBody>
          <a:bodyPr wrap="square" lIns="76200" tIns="76200" rIns="76200" bIns="76200" rtlCol="0" anchor="ctr"/>
          <a:lstStyle/>
          <a:p>
            <a:pPr algn="ctr" indent="0" marL="0">
              <a:buNone/>
            </a:pPr>
            <a:r>
              <a:rPr lang="en-US" sz="1250" dirty="0">
                <a:solidFill>
                  <a:srgbClr val="5B6577"/>
                </a:solidFill>
                <a:latin typeface="Calibri" pitchFamily="34" charset="0"/>
                <a:ea typeface="Calibri" pitchFamily="34" charset="-122"/>
                <a:cs typeface="Calibri" pitchFamily="34" charset="-120"/>
              </a:rPr>
              <a:t>Apply marking criteria</a:t>
            </a:r>
            <a:endParaRPr lang="en-US" sz="1250" dirty="0"/>
          </a:p>
        </p:txBody>
      </p:sp>
      <p:sp>
        <p:nvSpPr>
          <p:cNvPr id="22" name="Arrow"/>
          <p:cNvSpPr/>
          <p:nvPr/>
        </p:nvSpPr>
        <p:spPr>
          <a:xfrm>
            <a:off x="7909560" y="3995928"/>
            <a:ext cx="0" cy="237744"/>
          </a:xfrm>
          <a:prstGeom prst="line">
            <a:avLst/>
          </a:prstGeom>
          <a:noFill/>
          <a:ln w="22225">
            <a:solidFill>
              <a:srgbClr val="5B6577"/>
            </a:solidFill>
            <a:prstDash val="solid"/>
            <a:tailEnd type="triangle"/>
          </a:ln>
        </p:spPr>
      </p:sp>
      <p:sp>
        <p:nvSpPr>
          <p:cNvPr id="23" name="Box: Write marks and comments"/>
          <p:cNvSpPr/>
          <p:nvPr/>
        </p:nvSpPr>
        <p:spPr>
          <a:xfrm>
            <a:off x="6858000" y="4251960"/>
            <a:ext cx="2103120" cy="594360"/>
          </a:xfrm>
          <a:prstGeom prst="roundRect">
            <a:avLst>
              <a:gd name="adj" fmla="val 12308"/>
            </a:avLst>
          </a:prstGeom>
          <a:solidFill>
            <a:srgbClr val="E6E9EE"/>
          </a:solidFill>
          <a:ln w="12700">
            <a:solidFill>
              <a:srgbClr val="B8C0CC"/>
            </a:solidFill>
          </a:ln>
        </p:spPr>
        <p:txBody>
          <a:bodyPr wrap="square" lIns="76200" tIns="76200" rIns="76200" bIns="76200" rtlCol="0" anchor="ctr"/>
          <a:lstStyle/>
          <a:p>
            <a:pPr algn="ctr" indent="0" marL="0">
              <a:buNone/>
            </a:pPr>
            <a:r>
              <a:rPr lang="en-US" sz="1250" dirty="0">
                <a:solidFill>
                  <a:srgbClr val="5B6577"/>
                </a:solidFill>
                <a:latin typeface="Calibri" pitchFamily="34" charset="0"/>
                <a:ea typeface="Calibri" pitchFamily="34" charset="-122"/>
                <a:cs typeface="Calibri" pitchFamily="34" charset="-120"/>
              </a:rPr>
              <a:t>Write marks and comments</a:t>
            </a:r>
            <a:endParaRPr lang="en-US" sz="1250" dirty="0"/>
          </a:p>
        </p:txBody>
      </p:sp>
      <p:sp>
        <p:nvSpPr>
          <p:cNvPr id="24" name="Box: Upload Documents"/>
          <p:cNvSpPr/>
          <p:nvPr/>
        </p:nvSpPr>
        <p:spPr>
          <a:xfrm>
            <a:off x="9189720" y="1645920"/>
            <a:ext cx="2240280" cy="530352"/>
          </a:xfrm>
          <a:prstGeom prst="roundRect">
            <a:avLst>
              <a:gd name="adj" fmla="val 13793"/>
            </a:avLst>
          </a:prstGeom>
          <a:solidFill>
            <a:srgbClr val="0B1F3A"/>
          </a:solidFill>
          <a:ln w="12700">
            <a:solidFill>
              <a:srgbClr val="0B1F3A"/>
            </a:solidFill>
          </a:ln>
        </p:spPr>
        <p:txBody>
          <a:bodyPr wrap="square" lIns="76200" tIns="76200" rIns="76200" bIns="762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Upload Documents</a:t>
            </a:r>
            <a:endParaRPr lang="en-US" sz="1250" dirty="0"/>
          </a:p>
        </p:txBody>
      </p:sp>
      <p:sp>
        <p:nvSpPr>
          <p:cNvPr id="25" name="Arrow"/>
          <p:cNvSpPr/>
          <p:nvPr/>
        </p:nvSpPr>
        <p:spPr>
          <a:xfrm>
            <a:off x="10309860" y="2194560"/>
            <a:ext cx="0" cy="164592"/>
          </a:xfrm>
          <a:prstGeom prst="line">
            <a:avLst/>
          </a:prstGeom>
          <a:noFill/>
          <a:ln w="22225">
            <a:solidFill>
              <a:srgbClr val="5B6577"/>
            </a:solidFill>
            <a:prstDash val="solid"/>
            <a:tailEnd type="triangle"/>
          </a:ln>
        </p:spPr>
      </p:sp>
      <p:sp>
        <p:nvSpPr>
          <p:cNvPr id="26" name="Box: Extract Text"/>
          <p:cNvSpPr/>
          <p:nvPr/>
        </p:nvSpPr>
        <p:spPr>
          <a:xfrm>
            <a:off x="9189720" y="2377440"/>
            <a:ext cx="2240280" cy="530352"/>
          </a:xfrm>
          <a:prstGeom prst="roundRect">
            <a:avLst>
              <a:gd name="adj" fmla="val 13793"/>
            </a:avLst>
          </a:prstGeom>
          <a:solidFill>
            <a:srgbClr val="0B1F3A"/>
          </a:solidFill>
          <a:ln w="12700">
            <a:solidFill>
              <a:srgbClr val="0B1F3A"/>
            </a:solidFill>
          </a:ln>
        </p:spPr>
        <p:txBody>
          <a:bodyPr wrap="square" lIns="76200" tIns="76200" rIns="76200" bIns="762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Extract Text</a:t>
            </a:r>
            <a:endParaRPr lang="en-US" sz="1250" dirty="0"/>
          </a:p>
        </p:txBody>
      </p:sp>
      <p:sp>
        <p:nvSpPr>
          <p:cNvPr id="27" name="Arrow"/>
          <p:cNvSpPr/>
          <p:nvPr/>
        </p:nvSpPr>
        <p:spPr>
          <a:xfrm>
            <a:off x="10309860" y="2926080"/>
            <a:ext cx="0" cy="164592"/>
          </a:xfrm>
          <a:prstGeom prst="line">
            <a:avLst/>
          </a:prstGeom>
          <a:noFill/>
          <a:ln w="22225">
            <a:solidFill>
              <a:srgbClr val="5B6577"/>
            </a:solidFill>
            <a:prstDash val="solid"/>
            <a:tailEnd type="triangle"/>
          </a:ln>
        </p:spPr>
      </p:sp>
      <p:sp>
        <p:nvSpPr>
          <p:cNvPr id="28" name="Box: Organize Exam Knowledge"/>
          <p:cNvSpPr/>
          <p:nvPr/>
        </p:nvSpPr>
        <p:spPr>
          <a:xfrm>
            <a:off x="9189720" y="3108960"/>
            <a:ext cx="2240280" cy="530352"/>
          </a:xfrm>
          <a:prstGeom prst="roundRect">
            <a:avLst>
              <a:gd name="adj" fmla="val 13793"/>
            </a:avLst>
          </a:prstGeom>
          <a:solidFill>
            <a:srgbClr val="0B1F3A"/>
          </a:solidFill>
          <a:ln w="12700">
            <a:solidFill>
              <a:srgbClr val="0B1F3A"/>
            </a:solidFill>
          </a:ln>
        </p:spPr>
        <p:txBody>
          <a:bodyPr wrap="square" lIns="76200" tIns="76200" rIns="76200" bIns="762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Organize Exam Knowledge</a:t>
            </a:r>
            <a:endParaRPr lang="en-US" sz="1250" dirty="0"/>
          </a:p>
        </p:txBody>
      </p:sp>
      <p:sp>
        <p:nvSpPr>
          <p:cNvPr id="29" name="Arrow"/>
          <p:cNvSpPr/>
          <p:nvPr/>
        </p:nvSpPr>
        <p:spPr>
          <a:xfrm>
            <a:off x="10309860" y="3657600"/>
            <a:ext cx="0" cy="164592"/>
          </a:xfrm>
          <a:prstGeom prst="line">
            <a:avLst/>
          </a:prstGeom>
          <a:noFill/>
          <a:ln w="22225">
            <a:solidFill>
              <a:srgbClr val="5B6577"/>
            </a:solidFill>
            <a:prstDash val="solid"/>
            <a:tailEnd type="triangle"/>
          </a:ln>
        </p:spPr>
      </p:sp>
      <p:sp>
        <p:nvSpPr>
          <p:cNvPr id="30" name="Box: Map Student Answers"/>
          <p:cNvSpPr/>
          <p:nvPr/>
        </p:nvSpPr>
        <p:spPr>
          <a:xfrm>
            <a:off x="9189720" y="3840480"/>
            <a:ext cx="2240280" cy="530352"/>
          </a:xfrm>
          <a:prstGeom prst="roundRect">
            <a:avLst>
              <a:gd name="adj" fmla="val 13793"/>
            </a:avLst>
          </a:prstGeom>
          <a:solidFill>
            <a:srgbClr val="0B1F3A"/>
          </a:solidFill>
          <a:ln w="12700">
            <a:solidFill>
              <a:srgbClr val="0B1F3A"/>
            </a:solidFill>
          </a:ln>
        </p:spPr>
        <p:txBody>
          <a:bodyPr wrap="square" lIns="76200" tIns="76200" rIns="76200" bIns="762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Map Student Answers</a:t>
            </a:r>
            <a:endParaRPr lang="en-US" sz="1250" dirty="0"/>
          </a:p>
        </p:txBody>
      </p:sp>
      <p:sp>
        <p:nvSpPr>
          <p:cNvPr id="31" name="Arrow"/>
          <p:cNvSpPr/>
          <p:nvPr/>
        </p:nvSpPr>
        <p:spPr>
          <a:xfrm>
            <a:off x="10309860" y="4389120"/>
            <a:ext cx="0" cy="164592"/>
          </a:xfrm>
          <a:prstGeom prst="line">
            <a:avLst/>
          </a:prstGeom>
          <a:noFill/>
          <a:ln w="22225">
            <a:solidFill>
              <a:srgbClr val="5B6577"/>
            </a:solidFill>
            <a:prstDash val="solid"/>
            <a:tailEnd type="triangle"/>
          </a:ln>
        </p:spPr>
      </p:sp>
      <p:sp>
        <p:nvSpPr>
          <p:cNvPr id="32" name="Box: Evaluate Against Rubrics"/>
          <p:cNvSpPr/>
          <p:nvPr/>
        </p:nvSpPr>
        <p:spPr>
          <a:xfrm>
            <a:off x="9189720" y="4572000"/>
            <a:ext cx="2240280" cy="530352"/>
          </a:xfrm>
          <a:prstGeom prst="roundRect">
            <a:avLst>
              <a:gd name="adj" fmla="val 13793"/>
            </a:avLst>
          </a:prstGeom>
          <a:solidFill>
            <a:srgbClr val="0B1F3A"/>
          </a:solidFill>
          <a:ln w="12700">
            <a:solidFill>
              <a:srgbClr val="0B1F3A"/>
            </a:solidFill>
          </a:ln>
        </p:spPr>
        <p:txBody>
          <a:bodyPr wrap="square" lIns="76200" tIns="76200" rIns="76200" bIns="762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Evaluate Against Rubrics</a:t>
            </a:r>
            <a:endParaRPr lang="en-US" sz="1250" dirty="0"/>
          </a:p>
        </p:txBody>
      </p:sp>
      <p:sp>
        <p:nvSpPr>
          <p:cNvPr id="33" name="Arrow"/>
          <p:cNvSpPr/>
          <p:nvPr/>
        </p:nvSpPr>
        <p:spPr>
          <a:xfrm>
            <a:off x="10309860" y="5120640"/>
            <a:ext cx="0" cy="164592"/>
          </a:xfrm>
          <a:prstGeom prst="line">
            <a:avLst/>
          </a:prstGeom>
          <a:noFill/>
          <a:ln w="22225">
            <a:solidFill>
              <a:srgbClr val="5B6577"/>
            </a:solidFill>
            <a:prstDash val="solid"/>
            <a:tailEnd type="triangle"/>
          </a:ln>
        </p:spPr>
      </p:sp>
      <p:sp>
        <p:nvSpPr>
          <p:cNvPr id="34" name="Box: Generate Feedback"/>
          <p:cNvSpPr/>
          <p:nvPr/>
        </p:nvSpPr>
        <p:spPr>
          <a:xfrm>
            <a:off x="9189720" y="5303520"/>
            <a:ext cx="2240280" cy="530352"/>
          </a:xfrm>
          <a:prstGeom prst="roundRect">
            <a:avLst>
              <a:gd name="adj" fmla="val 13793"/>
            </a:avLst>
          </a:prstGeom>
          <a:solidFill>
            <a:srgbClr val="0B1F3A"/>
          </a:solidFill>
          <a:ln w="12700">
            <a:solidFill>
              <a:srgbClr val="0B1F3A"/>
            </a:solidFill>
          </a:ln>
        </p:spPr>
        <p:txBody>
          <a:bodyPr wrap="square" lIns="76200" tIns="76200" rIns="76200" bIns="762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Generate Feedback</a:t>
            </a:r>
            <a:endParaRPr lang="en-US" sz="12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rgbClr val="0B1F3A"/>
                </a:solidFill>
                <a:latin typeface="Calibri" pitchFamily="34" charset="0"/>
                <a:ea typeface="Calibri" pitchFamily="34" charset="-122"/>
                <a:cs typeface="Calibri" pitchFamily="34" charset="-120"/>
              </a:rPr>
              <a:t>System Architecture and Technology Stack</a:t>
            </a:r>
            <a:endParaRPr lang="en-US" sz="2800" dirty="0"/>
          </a:p>
        </p:txBody>
      </p:sp>
      <p:sp>
        <p:nvSpPr>
          <p:cNvPr id="3" name="Shape 1"/>
          <p:cNvSpPr/>
          <p:nvPr/>
        </p:nvSpPr>
        <p:spPr>
          <a:xfrm>
            <a:off x="6172200" y="6510528"/>
            <a:ext cx="128016" cy="128016"/>
          </a:xfrm>
          <a:prstGeom prst="ellipse">
            <a:avLst/>
          </a:prstGeom>
          <a:solidFill>
            <a:srgbClr val="2E9E5B"/>
          </a:solidFill>
          <a:ln/>
        </p:spPr>
      </p:sp>
      <p:sp>
        <p:nvSpPr>
          <p:cNvPr id="4" name="Text 2"/>
          <p:cNvSpPr txBox="1"/>
          <p:nvPr/>
        </p:nvSpPr>
        <p:spPr>
          <a:xfrm>
            <a:off x="6373368" y="6446520"/>
            <a:ext cx="8229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Reported</a:t>
            </a:r>
            <a:endParaRPr lang="en-US" sz="1100" dirty="0"/>
          </a:p>
        </p:txBody>
      </p:sp>
      <p:sp>
        <p:nvSpPr>
          <p:cNvPr id="5" name="Shape 3"/>
          <p:cNvSpPr/>
          <p:nvPr/>
        </p:nvSpPr>
        <p:spPr>
          <a:xfrm>
            <a:off x="7315200" y="6510528"/>
            <a:ext cx="128016" cy="128016"/>
          </a:xfrm>
          <a:prstGeom prst="ellipse">
            <a:avLst/>
          </a:prstGeom>
          <a:solidFill>
            <a:srgbClr val="E0A100"/>
          </a:solidFill>
          <a:ln/>
        </p:spPr>
      </p:sp>
      <p:sp>
        <p:nvSpPr>
          <p:cNvPr id="6" name="Text 4"/>
          <p:cNvSpPr txBox="1"/>
          <p:nvPr/>
        </p:nvSpPr>
        <p:spPr>
          <a:xfrm>
            <a:off x="7516368" y="6446520"/>
            <a:ext cx="146304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Pending verification</a:t>
            </a:r>
            <a:endParaRPr lang="en-US" sz="1100" dirty="0"/>
          </a:p>
        </p:txBody>
      </p:sp>
      <p:sp>
        <p:nvSpPr>
          <p:cNvPr id="7" name="Shape 5"/>
          <p:cNvSpPr/>
          <p:nvPr/>
        </p:nvSpPr>
        <p:spPr>
          <a:xfrm>
            <a:off x="9235440" y="6492240"/>
            <a:ext cx="274320" cy="164592"/>
          </a:xfrm>
          <a:prstGeom prst="roundRect">
            <a:avLst/>
          </a:prstGeom>
          <a:solidFill>
            <a:srgbClr val="FFFFFF"/>
          </a:solidFill>
          <a:ln w="15875">
            <a:solidFill>
              <a:srgbClr val="6D5BD0"/>
            </a:solidFill>
            <a:prstDash val="dash"/>
          </a:ln>
        </p:spPr>
      </p:sp>
      <p:sp>
        <p:nvSpPr>
          <p:cNvPr id="8" name="Text 6"/>
          <p:cNvSpPr txBox="1"/>
          <p:nvPr/>
        </p:nvSpPr>
        <p:spPr>
          <a:xfrm>
            <a:off x="9601200" y="6446520"/>
            <a:ext cx="17373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Planned / not confirmed</a:t>
            </a:r>
            <a:endParaRPr lang="en-US" sz="1100" dirty="0"/>
          </a:p>
        </p:txBody>
      </p:sp>
      <p:sp>
        <p:nvSpPr>
          <p:cNvPr id="9" name="Box: "/>
          <p:cNvSpPr/>
          <p:nvPr/>
        </p:nvSpPr>
        <p:spPr>
          <a:xfrm>
            <a:off x="548640" y="1051560"/>
            <a:ext cx="9326880" cy="1874520"/>
          </a:xfrm>
          <a:prstGeom prst="rect">
            <a:avLst>
              <a:gd name="adj" fmla="val 3902"/>
            </a:avLst>
          </a:prstGeom>
          <a:solidFill>
            <a:srgbClr val="EEF1F6"/>
          </a:solidFill>
          <a:ln w="12700">
            <a:solidFill>
              <a:srgbClr val="DDE2EA"/>
            </a:solidFill>
          </a:ln>
        </p:spPr>
        <p:txBody>
          <a:bodyPr wrap="square" lIns="76200" tIns="76200" rIns="76200" bIns="76200" rtlCol="0" anchor="ctr"/>
          <a:lstStyle/>
          <a:p>
            <a:pPr algn="ctr" indent="0" marL="0">
              <a:buNone/>
            </a:pPr>
            <a:endParaRPr lang="en-US" sz="1300" dirty="0"/>
          </a:p>
        </p:txBody>
      </p:sp>
      <p:sp>
        <p:nvSpPr>
          <p:cNvPr id="10" name="Text 8"/>
          <p:cNvSpPr txBox="1"/>
          <p:nvPr/>
        </p:nvSpPr>
        <p:spPr>
          <a:xfrm>
            <a:off x="685800" y="1097280"/>
            <a:ext cx="2743200" cy="228600"/>
          </a:xfrm>
          <a:prstGeom prst="rect">
            <a:avLst/>
          </a:prstGeom>
          <a:noFill/>
          <a:ln/>
        </p:spPr>
        <p:txBody>
          <a:bodyPr wrap="square" lIns="0" tIns="0" rIns="0" bIns="0" rtlCol="0" anchor="t"/>
          <a:lstStyle/>
          <a:p>
            <a:pPr algn="l" indent="0" marL="0">
              <a:buNone/>
            </a:pPr>
            <a:r>
              <a:rPr lang="en-US" sz="1100" b="1" spc="200" kern="0" dirty="0">
                <a:solidFill>
                  <a:srgbClr val="0B1F3A"/>
                </a:solidFill>
                <a:latin typeface="Calibri" pitchFamily="34" charset="0"/>
                <a:ea typeface="Calibri" pitchFamily="34" charset="-122"/>
                <a:cs typeface="Calibri" pitchFamily="34" charset="-120"/>
              </a:rPr>
              <a:t>TEACHER WORKFLOW</a:t>
            </a:r>
            <a:endParaRPr lang="en-US" sz="1100" dirty="0"/>
          </a:p>
        </p:txBody>
      </p:sp>
      <p:sp>
        <p:nvSpPr>
          <p:cNvPr id="11" name="Box: Teacher Portal"/>
          <p:cNvSpPr/>
          <p:nvPr/>
        </p:nvSpPr>
        <p:spPr>
          <a:xfrm>
            <a:off x="685800" y="1371600"/>
            <a:ext cx="1554480" cy="640080"/>
          </a:xfrm>
          <a:prstGeom prst="roundRect">
            <a:avLst>
              <a:gd name="adj" fmla="val 11429"/>
            </a:avLst>
          </a:prstGeom>
          <a:solidFill>
            <a:srgbClr val="FFFFFF"/>
          </a:solidFill>
          <a:ln w="12700">
            <a:solidFill>
              <a:srgbClr val="CBD2DC"/>
            </a:solidFill>
          </a:ln>
        </p:spPr>
        <p:txBody>
          <a:bodyPr wrap="square" lIns="76200" tIns="76200" rIns="76200" bIns="762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Teacher Portal</a:t>
            </a:r>
            <a:endParaRPr lang="en-US" sz="1150" dirty="0"/>
          </a:p>
        </p:txBody>
      </p:sp>
      <p:sp>
        <p:nvSpPr>
          <p:cNvPr id="12" name="Status dot"/>
          <p:cNvSpPr/>
          <p:nvPr/>
        </p:nvSpPr>
        <p:spPr>
          <a:xfrm>
            <a:off x="2057400" y="1435608"/>
            <a:ext cx="128016" cy="128016"/>
          </a:xfrm>
          <a:prstGeom prst="ellipse">
            <a:avLst/>
          </a:prstGeom>
          <a:solidFill>
            <a:srgbClr val="2E9E5B"/>
          </a:solidFill>
          <a:ln/>
        </p:spPr>
      </p:sp>
      <p:sp>
        <p:nvSpPr>
          <p:cNvPr id="13" name="Arrow"/>
          <p:cNvSpPr/>
          <p:nvPr/>
        </p:nvSpPr>
        <p:spPr>
          <a:xfrm>
            <a:off x="2267712" y="1691640"/>
            <a:ext cx="219456" cy="0"/>
          </a:xfrm>
          <a:prstGeom prst="line">
            <a:avLst/>
          </a:prstGeom>
          <a:noFill/>
          <a:ln w="22225">
            <a:solidFill>
              <a:srgbClr val="5B6577"/>
            </a:solidFill>
            <a:prstDash val="solid"/>
            <a:tailEnd type="triangle"/>
          </a:ln>
        </p:spPr>
      </p:sp>
      <p:sp>
        <p:nvSpPr>
          <p:cNvPr id="14" name="Box: Question Paper / Model Answer "/>
          <p:cNvSpPr/>
          <p:nvPr/>
        </p:nvSpPr>
        <p:spPr>
          <a:xfrm>
            <a:off x="2514600" y="1371600"/>
            <a:ext cx="1554480" cy="640080"/>
          </a:xfrm>
          <a:prstGeom prst="roundRect">
            <a:avLst>
              <a:gd name="adj" fmla="val 11429"/>
            </a:avLst>
          </a:prstGeom>
          <a:solidFill>
            <a:srgbClr val="FFFFFF"/>
          </a:solidFill>
          <a:ln w="12700">
            <a:solidFill>
              <a:srgbClr val="CBD2DC"/>
            </a:solidFill>
          </a:ln>
        </p:spPr>
        <p:txBody>
          <a:bodyPr wrap="square" lIns="76200" tIns="76200" rIns="76200" bIns="762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Question Paper / Model Answer / Rubric</a:t>
            </a:r>
            <a:endParaRPr lang="en-US" sz="1150" dirty="0"/>
          </a:p>
        </p:txBody>
      </p:sp>
      <p:sp>
        <p:nvSpPr>
          <p:cNvPr id="15" name="Status dot"/>
          <p:cNvSpPr/>
          <p:nvPr/>
        </p:nvSpPr>
        <p:spPr>
          <a:xfrm>
            <a:off x="3886200" y="1435608"/>
            <a:ext cx="128016" cy="128016"/>
          </a:xfrm>
          <a:prstGeom prst="ellipse">
            <a:avLst/>
          </a:prstGeom>
          <a:solidFill>
            <a:srgbClr val="2E9E5B"/>
          </a:solidFill>
          <a:ln/>
        </p:spPr>
      </p:sp>
      <p:sp>
        <p:nvSpPr>
          <p:cNvPr id="16" name="Arrow"/>
          <p:cNvSpPr/>
          <p:nvPr/>
        </p:nvSpPr>
        <p:spPr>
          <a:xfrm>
            <a:off x="4096512" y="1691640"/>
            <a:ext cx="219456" cy="0"/>
          </a:xfrm>
          <a:prstGeom prst="line">
            <a:avLst/>
          </a:prstGeom>
          <a:noFill/>
          <a:ln w="22225">
            <a:solidFill>
              <a:srgbClr val="5B6577"/>
            </a:solidFill>
            <a:prstDash val="solid"/>
            <a:tailEnd type="triangle"/>
          </a:ln>
        </p:spPr>
      </p:sp>
      <p:sp>
        <p:nvSpPr>
          <p:cNvPr id="17" name="Box: Original File Storage"/>
          <p:cNvSpPr/>
          <p:nvPr/>
        </p:nvSpPr>
        <p:spPr>
          <a:xfrm>
            <a:off x="4343400" y="1371600"/>
            <a:ext cx="1554480" cy="640080"/>
          </a:xfrm>
          <a:prstGeom prst="roundRect">
            <a:avLst>
              <a:gd name="adj" fmla="val 11429"/>
            </a:avLst>
          </a:prstGeom>
          <a:solidFill>
            <a:srgbClr val="E6EAF0"/>
          </a:solidFill>
          <a:ln w="12700">
            <a:solidFill>
              <a:srgbClr val="9AA6B8"/>
            </a:solidFill>
          </a:ln>
        </p:spPr>
        <p:txBody>
          <a:bodyPr wrap="square" lIns="76200" tIns="76200" rIns="76200" bIns="762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Original File Storage</a:t>
            </a:r>
            <a:endParaRPr lang="en-US" sz="1150" dirty="0"/>
          </a:p>
        </p:txBody>
      </p:sp>
      <p:sp>
        <p:nvSpPr>
          <p:cNvPr id="18" name="Status dot"/>
          <p:cNvSpPr/>
          <p:nvPr/>
        </p:nvSpPr>
        <p:spPr>
          <a:xfrm>
            <a:off x="5715000" y="1435608"/>
            <a:ext cx="128016" cy="128016"/>
          </a:xfrm>
          <a:prstGeom prst="ellipse">
            <a:avLst/>
          </a:prstGeom>
          <a:solidFill>
            <a:srgbClr val="2E9E5B"/>
          </a:solidFill>
          <a:ln/>
        </p:spPr>
      </p:sp>
      <p:sp>
        <p:nvSpPr>
          <p:cNvPr id="19" name="Arrow"/>
          <p:cNvSpPr/>
          <p:nvPr/>
        </p:nvSpPr>
        <p:spPr>
          <a:xfrm>
            <a:off x="5925312" y="1691640"/>
            <a:ext cx="219456" cy="0"/>
          </a:xfrm>
          <a:prstGeom prst="line">
            <a:avLst/>
          </a:prstGeom>
          <a:noFill/>
          <a:ln w="22225">
            <a:solidFill>
              <a:srgbClr val="5B6577"/>
            </a:solidFill>
            <a:prstDash val="solid"/>
            <a:tailEnd type="triangle"/>
          </a:ln>
        </p:spPr>
      </p:sp>
      <p:sp>
        <p:nvSpPr>
          <p:cNvPr id="20" name="Box: Text Extraction / OCR"/>
          <p:cNvSpPr/>
          <p:nvPr/>
        </p:nvSpPr>
        <p:spPr>
          <a:xfrm>
            <a:off x="6172200" y="1371600"/>
            <a:ext cx="1554480" cy="640080"/>
          </a:xfrm>
          <a:prstGeom prst="roundRect">
            <a:avLst>
              <a:gd name="adj" fmla="val 11429"/>
            </a:avLst>
          </a:prstGeom>
          <a:solidFill>
            <a:srgbClr val="FFFFFF"/>
          </a:solidFill>
          <a:ln w="12700">
            <a:solidFill>
              <a:srgbClr val="CBD2DC"/>
            </a:solidFill>
          </a:ln>
        </p:spPr>
        <p:txBody>
          <a:bodyPr wrap="square" lIns="76200" tIns="76200" rIns="76200" bIns="762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Text Extraction / OCR</a:t>
            </a:r>
            <a:endParaRPr lang="en-US" sz="1150" dirty="0"/>
          </a:p>
        </p:txBody>
      </p:sp>
      <p:sp>
        <p:nvSpPr>
          <p:cNvPr id="21" name="Status dot"/>
          <p:cNvSpPr/>
          <p:nvPr/>
        </p:nvSpPr>
        <p:spPr>
          <a:xfrm>
            <a:off x="7543800" y="1435608"/>
            <a:ext cx="128016" cy="128016"/>
          </a:xfrm>
          <a:prstGeom prst="ellipse">
            <a:avLst/>
          </a:prstGeom>
          <a:solidFill>
            <a:srgbClr val="2E9E5B"/>
          </a:solidFill>
          <a:ln/>
        </p:spPr>
      </p:sp>
      <p:sp>
        <p:nvSpPr>
          <p:cNvPr id="22" name="Arrow"/>
          <p:cNvSpPr/>
          <p:nvPr/>
        </p:nvSpPr>
        <p:spPr>
          <a:xfrm>
            <a:off x="7754112" y="1691640"/>
            <a:ext cx="219456" cy="0"/>
          </a:xfrm>
          <a:prstGeom prst="line">
            <a:avLst/>
          </a:prstGeom>
          <a:noFill/>
          <a:ln w="22225">
            <a:solidFill>
              <a:srgbClr val="5B6577"/>
            </a:solidFill>
            <a:prstDash val="solid"/>
            <a:tailEnd type="triangle"/>
          </a:ln>
        </p:spPr>
      </p:sp>
      <p:sp>
        <p:nvSpPr>
          <p:cNvPr id="23" name="Box: Question Parsing"/>
          <p:cNvSpPr/>
          <p:nvPr/>
        </p:nvSpPr>
        <p:spPr>
          <a:xfrm>
            <a:off x="8001000" y="1371600"/>
            <a:ext cx="1554480" cy="640080"/>
          </a:xfrm>
          <a:prstGeom prst="roundRect">
            <a:avLst>
              <a:gd name="adj" fmla="val 11429"/>
            </a:avLst>
          </a:prstGeom>
          <a:solidFill>
            <a:srgbClr val="FFFFFF"/>
          </a:solidFill>
          <a:ln w="12700">
            <a:solidFill>
              <a:srgbClr val="CBD2DC"/>
            </a:solidFill>
          </a:ln>
        </p:spPr>
        <p:txBody>
          <a:bodyPr wrap="square" lIns="76200" tIns="76200" rIns="76200" bIns="76200"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Question Parsing</a:t>
            </a:r>
            <a:endParaRPr lang="en-US" sz="1150" dirty="0"/>
          </a:p>
        </p:txBody>
      </p:sp>
      <p:sp>
        <p:nvSpPr>
          <p:cNvPr id="24" name="Status dot"/>
          <p:cNvSpPr/>
          <p:nvPr/>
        </p:nvSpPr>
        <p:spPr>
          <a:xfrm>
            <a:off x="9372600" y="1435608"/>
            <a:ext cx="128016" cy="128016"/>
          </a:xfrm>
          <a:prstGeom prst="ellipse">
            <a:avLst/>
          </a:prstGeom>
          <a:solidFill>
            <a:srgbClr val="2E9E5B"/>
          </a:solidFill>
          <a:ln/>
        </p:spPr>
      </p:sp>
      <p:sp>
        <p:nvSpPr>
          <p:cNvPr id="25" name="Box: Structured Store"/>
          <p:cNvSpPr/>
          <p:nvPr/>
        </p:nvSpPr>
        <p:spPr>
          <a:xfrm>
            <a:off x="8001000" y="2194560"/>
            <a:ext cx="1554480" cy="594360"/>
          </a:xfrm>
          <a:prstGeom prst="roundRect">
            <a:avLst>
              <a:gd name="adj" fmla="val 12308"/>
            </a:avLst>
          </a:prstGeom>
          <a:solidFill>
            <a:srgbClr val="0B1F3A"/>
          </a:solidFill>
          <a:ln w="12700">
            <a:solidFill>
              <a:srgbClr val="0B1F3A"/>
            </a:solidFill>
          </a:ln>
        </p:spPr>
        <p:txBody>
          <a:bodyPr wrap="square" lIns="76200" tIns="76200" rIns="76200" bIns="762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Structured Store</a:t>
            </a:r>
            <a:endParaRPr lang="en-US" sz="1200" dirty="0"/>
          </a:p>
        </p:txBody>
      </p:sp>
      <p:sp>
        <p:nvSpPr>
          <p:cNvPr id="26" name="Status dot"/>
          <p:cNvSpPr/>
          <p:nvPr/>
        </p:nvSpPr>
        <p:spPr>
          <a:xfrm>
            <a:off x="9372600" y="2258568"/>
            <a:ext cx="128016" cy="128016"/>
          </a:xfrm>
          <a:prstGeom prst="ellipse">
            <a:avLst/>
          </a:prstGeom>
          <a:solidFill>
            <a:srgbClr val="E0A100"/>
          </a:solidFill>
          <a:ln/>
        </p:spPr>
      </p:sp>
      <p:sp>
        <p:nvSpPr>
          <p:cNvPr id="27" name="Arrow"/>
          <p:cNvSpPr/>
          <p:nvPr/>
        </p:nvSpPr>
        <p:spPr>
          <a:xfrm>
            <a:off x="8778240" y="2011680"/>
            <a:ext cx="0" cy="182880"/>
          </a:xfrm>
          <a:prstGeom prst="line">
            <a:avLst/>
          </a:prstGeom>
          <a:noFill/>
          <a:ln w="22225">
            <a:solidFill>
              <a:srgbClr val="5B6577"/>
            </a:solidFill>
            <a:prstDash val="solid"/>
            <a:tailEnd type="triangle"/>
          </a:ln>
        </p:spPr>
      </p:sp>
      <p:sp>
        <p:nvSpPr>
          <p:cNvPr id="28" name="Box: Semantic Chunking"/>
          <p:cNvSpPr/>
          <p:nvPr/>
        </p:nvSpPr>
        <p:spPr>
          <a:xfrm>
            <a:off x="6172200" y="2194560"/>
            <a:ext cx="1554480" cy="594360"/>
          </a:xfrm>
          <a:prstGeom prst="roundRect">
            <a:avLst>
              <a:gd name="adj" fmla="val 12308"/>
            </a:avLst>
          </a:prstGeom>
          <a:solidFill>
            <a:srgbClr val="FFFFFF"/>
          </a:solidFill>
          <a:ln w="12700">
            <a:solidFill>
              <a:srgbClr val="CBD2DC"/>
            </a:solidFill>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Semantic Chunking</a:t>
            </a:r>
            <a:endParaRPr lang="en-US" sz="1200" dirty="0"/>
          </a:p>
        </p:txBody>
      </p:sp>
      <p:sp>
        <p:nvSpPr>
          <p:cNvPr id="29" name="Status dot"/>
          <p:cNvSpPr/>
          <p:nvPr/>
        </p:nvSpPr>
        <p:spPr>
          <a:xfrm>
            <a:off x="7543800" y="2258568"/>
            <a:ext cx="128016" cy="128016"/>
          </a:xfrm>
          <a:prstGeom prst="ellipse">
            <a:avLst/>
          </a:prstGeom>
          <a:solidFill>
            <a:srgbClr val="2E9E5B"/>
          </a:solidFill>
          <a:ln/>
        </p:spPr>
      </p:sp>
      <p:sp>
        <p:nvSpPr>
          <p:cNvPr id="30" name="Arrow"/>
          <p:cNvSpPr/>
          <p:nvPr/>
        </p:nvSpPr>
        <p:spPr>
          <a:xfrm flipH="1">
            <a:off x="6949440" y="2011680"/>
            <a:ext cx="1417320" cy="182880"/>
          </a:xfrm>
          <a:prstGeom prst="line">
            <a:avLst/>
          </a:prstGeom>
          <a:noFill/>
          <a:ln w="22225">
            <a:solidFill>
              <a:srgbClr val="5B6577"/>
            </a:solidFill>
            <a:prstDash val="solid"/>
            <a:tailEnd type="triangle"/>
          </a:ln>
        </p:spPr>
      </p:sp>
      <p:sp>
        <p:nvSpPr>
          <p:cNvPr id="31" name="Box: qwen3-embedding:4b (Ollama)"/>
          <p:cNvSpPr/>
          <p:nvPr/>
        </p:nvSpPr>
        <p:spPr>
          <a:xfrm>
            <a:off x="4343400" y="2194560"/>
            <a:ext cx="1554480" cy="594360"/>
          </a:xfrm>
          <a:prstGeom prst="roundRect">
            <a:avLst>
              <a:gd name="adj" fmla="val 12308"/>
            </a:avLst>
          </a:prstGeom>
          <a:solidFill>
            <a:srgbClr val="6D5BD0"/>
          </a:solidFill>
          <a:ln w="12700">
            <a:solidFill>
              <a:srgbClr val="6D5BD0"/>
            </a:solidFill>
          </a:ln>
        </p:spPr>
        <p:txBody>
          <a:bodyPr wrap="square" lIns="76200" tIns="76200" rIns="76200" bIns="7620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qwen3-embedding:4b (Ollama)</a:t>
            </a:r>
            <a:endParaRPr lang="en-US" sz="1150" dirty="0"/>
          </a:p>
        </p:txBody>
      </p:sp>
      <p:sp>
        <p:nvSpPr>
          <p:cNvPr id="32" name="Arrow"/>
          <p:cNvSpPr/>
          <p:nvPr/>
        </p:nvSpPr>
        <p:spPr>
          <a:xfrm flipH="1">
            <a:off x="5925312" y="2491740"/>
            <a:ext cx="219456" cy="0"/>
          </a:xfrm>
          <a:prstGeom prst="line">
            <a:avLst/>
          </a:prstGeom>
          <a:noFill/>
          <a:ln w="22225">
            <a:solidFill>
              <a:srgbClr val="5B6577"/>
            </a:solidFill>
            <a:prstDash val="solid"/>
            <a:tailEnd type="triangle"/>
          </a:ln>
        </p:spPr>
      </p:sp>
      <p:sp>
        <p:nvSpPr>
          <p:cNvPr id="33" name="Box: Persistent ChromaDB"/>
          <p:cNvSpPr/>
          <p:nvPr/>
        </p:nvSpPr>
        <p:spPr>
          <a:xfrm>
            <a:off x="2514600" y="2194560"/>
            <a:ext cx="1554480" cy="594360"/>
          </a:xfrm>
          <a:prstGeom prst="roundRect">
            <a:avLst>
              <a:gd name="adj" fmla="val 12308"/>
            </a:avLst>
          </a:prstGeom>
          <a:solidFill>
            <a:srgbClr val="6D5BD0"/>
          </a:solidFill>
          <a:ln w="12700">
            <a:solidFill>
              <a:srgbClr val="6D5BD0"/>
            </a:solidFill>
          </a:ln>
        </p:spPr>
        <p:txBody>
          <a:bodyPr wrap="square" lIns="76200" tIns="76200" rIns="76200" bIns="762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Persistent ChromaDB</a:t>
            </a:r>
            <a:endParaRPr lang="en-US" sz="1200" dirty="0"/>
          </a:p>
        </p:txBody>
      </p:sp>
      <p:sp>
        <p:nvSpPr>
          <p:cNvPr id="34" name="Status dot"/>
          <p:cNvSpPr/>
          <p:nvPr/>
        </p:nvSpPr>
        <p:spPr>
          <a:xfrm>
            <a:off x="3886200" y="2258568"/>
            <a:ext cx="128016" cy="128016"/>
          </a:xfrm>
          <a:prstGeom prst="ellipse">
            <a:avLst/>
          </a:prstGeom>
          <a:solidFill>
            <a:srgbClr val="E0A100"/>
          </a:solidFill>
          <a:ln/>
        </p:spPr>
      </p:sp>
      <p:sp>
        <p:nvSpPr>
          <p:cNvPr id="35" name="Arrow"/>
          <p:cNvSpPr/>
          <p:nvPr/>
        </p:nvSpPr>
        <p:spPr>
          <a:xfrm flipH="1">
            <a:off x="4096512" y="2491740"/>
            <a:ext cx="219456" cy="0"/>
          </a:xfrm>
          <a:prstGeom prst="line">
            <a:avLst/>
          </a:prstGeom>
          <a:noFill/>
          <a:ln w="22225">
            <a:solidFill>
              <a:srgbClr val="5B6577"/>
            </a:solidFill>
            <a:prstDash val="solid"/>
            <a:tailEnd type="triangle"/>
          </a:ln>
        </p:spPr>
      </p:sp>
      <p:sp>
        <p:nvSpPr>
          <p:cNvPr id="36" name="Box: "/>
          <p:cNvSpPr/>
          <p:nvPr/>
        </p:nvSpPr>
        <p:spPr>
          <a:xfrm>
            <a:off x="548640" y="3017520"/>
            <a:ext cx="9326880" cy="1051560"/>
          </a:xfrm>
          <a:prstGeom prst="rect">
            <a:avLst>
              <a:gd name="adj" fmla="val 6957"/>
            </a:avLst>
          </a:prstGeom>
          <a:solidFill>
            <a:srgbClr val="E3F4F3"/>
          </a:solidFill>
          <a:ln w="12700">
            <a:solidFill>
              <a:srgbClr val="BFE3E1"/>
            </a:solidFill>
          </a:ln>
        </p:spPr>
        <p:txBody>
          <a:bodyPr wrap="square" lIns="76200" tIns="76200" rIns="76200" bIns="76200" rtlCol="0" anchor="ctr"/>
          <a:lstStyle/>
          <a:p>
            <a:pPr algn="ctr" indent="0" marL="0">
              <a:buNone/>
            </a:pPr>
            <a:endParaRPr lang="en-US" sz="1300" dirty="0"/>
          </a:p>
        </p:txBody>
      </p:sp>
      <p:sp>
        <p:nvSpPr>
          <p:cNvPr id="37" name="Text 35"/>
          <p:cNvSpPr txBox="1"/>
          <p:nvPr/>
        </p:nvSpPr>
        <p:spPr>
          <a:xfrm>
            <a:off x="685800" y="3063240"/>
            <a:ext cx="2743200" cy="228600"/>
          </a:xfrm>
          <a:prstGeom prst="rect">
            <a:avLst/>
          </a:prstGeom>
          <a:noFill/>
          <a:ln/>
        </p:spPr>
        <p:txBody>
          <a:bodyPr wrap="square" lIns="0" tIns="0" rIns="0" bIns="0" rtlCol="0" anchor="t"/>
          <a:lstStyle/>
          <a:p>
            <a:pPr algn="l" indent="0" marL="0">
              <a:buNone/>
            </a:pPr>
            <a:r>
              <a:rPr lang="en-US" sz="1100" b="1" spc="200" kern="0" dirty="0">
                <a:solidFill>
                  <a:srgbClr val="0B6F6D"/>
                </a:solidFill>
                <a:latin typeface="Calibri" pitchFamily="34" charset="0"/>
                <a:ea typeface="Calibri" pitchFamily="34" charset="-122"/>
                <a:cs typeface="Calibri" pitchFamily="34" charset="-120"/>
              </a:rPr>
              <a:t>STUDENT WORKFLOW</a:t>
            </a:r>
            <a:endParaRPr lang="en-US" sz="1100" dirty="0"/>
          </a:p>
        </p:txBody>
      </p:sp>
      <p:sp>
        <p:nvSpPr>
          <p:cNvPr id="38" name="Box: Student Portal"/>
          <p:cNvSpPr/>
          <p:nvPr/>
        </p:nvSpPr>
        <p:spPr>
          <a:xfrm>
            <a:off x="685800" y="3383280"/>
            <a:ext cx="1280160" cy="594360"/>
          </a:xfrm>
          <a:prstGeom prst="roundRect">
            <a:avLst>
              <a:gd name="adj" fmla="val 12308"/>
            </a:avLst>
          </a:prstGeom>
          <a:solidFill>
            <a:srgbClr val="FFFFFF"/>
          </a:solidFill>
          <a:ln w="12700">
            <a:solidFill>
              <a:srgbClr val="CBD2DC"/>
            </a:solidFill>
          </a:ln>
        </p:spPr>
        <p:txBody>
          <a:bodyPr wrap="square" lIns="76200" tIns="76200" rIns="76200" bIns="7620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Student Portal</a:t>
            </a:r>
            <a:endParaRPr lang="en-US" sz="1100" dirty="0"/>
          </a:p>
        </p:txBody>
      </p:sp>
      <p:sp>
        <p:nvSpPr>
          <p:cNvPr id="39" name="Arrow"/>
          <p:cNvSpPr/>
          <p:nvPr/>
        </p:nvSpPr>
        <p:spPr>
          <a:xfrm>
            <a:off x="1984248" y="3680460"/>
            <a:ext cx="192024" cy="0"/>
          </a:xfrm>
          <a:prstGeom prst="line">
            <a:avLst/>
          </a:prstGeom>
          <a:noFill/>
          <a:ln w="22225">
            <a:solidFill>
              <a:srgbClr val="5B6577"/>
            </a:solidFill>
            <a:prstDash val="solid"/>
            <a:tailEnd type="triangle"/>
          </a:ln>
        </p:spPr>
      </p:sp>
      <p:sp>
        <p:nvSpPr>
          <p:cNvPr id="40" name="Box: Answer Sheet Upload"/>
          <p:cNvSpPr/>
          <p:nvPr/>
        </p:nvSpPr>
        <p:spPr>
          <a:xfrm>
            <a:off x="2194560" y="3383280"/>
            <a:ext cx="1280160" cy="594360"/>
          </a:xfrm>
          <a:prstGeom prst="roundRect">
            <a:avLst>
              <a:gd name="adj" fmla="val 12308"/>
            </a:avLst>
          </a:prstGeom>
          <a:solidFill>
            <a:srgbClr val="FFFFFF"/>
          </a:solidFill>
          <a:ln w="12700">
            <a:solidFill>
              <a:srgbClr val="CBD2DC"/>
            </a:solidFill>
          </a:ln>
        </p:spPr>
        <p:txBody>
          <a:bodyPr wrap="square" lIns="76200" tIns="76200" rIns="76200" bIns="7620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Answer Sheet Upload</a:t>
            </a:r>
            <a:endParaRPr lang="en-US" sz="1100" dirty="0"/>
          </a:p>
        </p:txBody>
      </p:sp>
      <p:sp>
        <p:nvSpPr>
          <p:cNvPr id="41" name="Arrow"/>
          <p:cNvSpPr/>
          <p:nvPr/>
        </p:nvSpPr>
        <p:spPr>
          <a:xfrm>
            <a:off x="3493008" y="3680460"/>
            <a:ext cx="192024" cy="0"/>
          </a:xfrm>
          <a:prstGeom prst="line">
            <a:avLst/>
          </a:prstGeom>
          <a:noFill/>
          <a:ln w="22225">
            <a:solidFill>
              <a:srgbClr val="5B6577"/>
            </a:solidFill>
            <a:prstDash val="solid"/>
            <a:tailEnd type="triangle"/>
          </a:ln>
        </p:spPr>
      </p:sp>
      <p:sp>
        <p:nvSpPr>
          <p:cNvPr id="42" name="Box: Original File Storage"/>
          <p:cNvSpPr/>
          <p:nvPr/>
        </p:nvSpPr>
        <p:spPr>
          <a:xfrm>
            <a:off x="3703320" y="3383280"/>
            <a:ext cx="1280160" cy="594360"/>
          </a:xfrm>
          <a:prstGeom prst="roundRect">
            <a:avLst>
              <a:gd name="adj" fmla="val 12308"/>
            </a:avLst>
          </a:prstGeom>
          <a:solidFill>
            <a:srgbClr val="E6EAF0"/>
          </a:solidFill>
          <a:ln w="12700">
            <a:solidFill>
              <a:srgbClr val="9AA6B8"/>
            </a:solidFill>
          </a:ln>
        </p:spPr>
        <p:txBody>
          <a:bodyPr wrap="square" lIns="76200" tIns="76200" rIns="76200" bIns="7620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Original File Storage</a:t>
            </a:r>
            <a:endParaRPr lang="en-US" sz="1100" dirty="0"/>
          </a:p>
        </p:txBody>
      </p:sp>
      <p:sp>
        <p:nvSpPr>
          <p:cNvPr id="43" name="Arrow"/>
          <p:cNvSpPr/>
          <p:nvPr/>
        </p:nvSpPr>
        <p:spPr>
          <a:xfrm>
            <a:off x="5001768" y="3680460"/>
            <a:ext cx="192024" cy="0"/>
          </a:xfrm>
          <a:prstGeom prst="line">
            <a:avLst/>
          </a:prstGeom>
          <a:noFill/>
          <a:ln w="22225">
            <a:solidFill>
              <a:srgbClr val="5B6577"/>
            </a:solidFill>
            <a:prstDash val="solid"/>
            <a:tailEnd type="triangle"/>
          </a:ln>
        </p:spPr>
      </p:sp>
      <p:sp>
        <p:nvSpPr>
          <p:cNvPr id="44" name="Box: Selected OCR Engine"/>
          <p:cNvSpPr/>
          <p:nvPr/>
        </p:nvSpPr>
        <p:spPr>
          <a:xfrm>
            <a:off x="5212080" y="3383280"/>
            <a:ext cx="1280160" cy="594360"/>
          </a:xfrm>
          <a:prstGeom prst="roundRect">
            <a:avLst>
              <a:gd name="adj" fmla="val 12308"/>
            </a:avLst>
          </a:prstGeom>
          <a:solidFill>
            <a:srgbClr val="FFFFFF"/>
          </a:solidFill>
          <a:ln w="12700">
            <a:solidFill>
              <a:srgbClr val="CBD2DC"/>
            </a:solidFill>
          </a:ln>
        </p:spPr>
        <p:txBody>
          <a:bodyPr wrap="square" lIns="76200" tIns="76200" rIns="76200" bIns="7620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Selected OCR Engine</a:t>
            </a:r>
            <a:endParaRPr lang="en-US" sz="1100" dirty="0"/>
          </a:p>
        </p:txBody>
      </p:sp>
      <p:sp>
        <p:nvSpPr>
          <p:cNvPr id="45" name="Status dot"/>
          <p:cNvSpPr/>
          <p:nvPr/>
        </p:nvSpPr>
        <p:spPr>
          <a:xfrm>
            <a:off x="6309360" y="3447288"/>
            <a:ext cx="128016" cy="128016"/>
          </a:xfrm>
          <a:prstGeom prst="ellipse">
            <a:avLst/>
          </a:prstGeom>
          <a:solidFill>
            <a:srgbClr val="2E9E5B"/>
          </a:solidFill>
          <a:ln/>
        </p:spPr>
      </p:sp>
      <p:sp>
        <p:nvSpPr>
          <p:cNvPr id="46" name="Arrow"/>
          <p:cNvSpPr/>
          <p:nvPr/>
        </p:nvSpPr>
        <p:spPr>
          <a:xfrm>
            <a:off x="6510528" y="3680460"/>
            <a:ext cx="192024" cy="0"/>
          </a:xfrm>
          <a:prstGeom prst="line">
            <a:avLst/>
          </a:prstGeom>
          <a:noFill/>
          <a:ln w="22225">
            <a:solidFill>
              <a:srgbClr val="5B6577"/>
            </a:solidFill>
            <a:prstDash val="solid"/>
            <a:tailEnd type="triangle"/>
          </a:ln>
        </p:spPr>
      </p:sp>
      <p:sp>
        <p:nvSpPr>
          <p:cNvPr id="47" name="Box: Answer Segmentation and Mappin"/>
          <p:cNvSpPr/>
          <p:nvPr/>
        </p:nvSpPr>
        <p:spPr>
          <a:xfrm>
            <a:off x="6720840" y="3383280"/>
            <a:ext cx="1280160" cy="594360"/>
          </a:xfrm>
          <a:prstGeom prst="roundRect">
            <a:avLst>
              <a:gd name="adj" fmla="val 12308"/>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Answer Segmentation and Mapping</a:t>
            </a:r>
            <a:endParaRPr lang="en-US" sz="1100" dirty="0"/>
          </a:p>
        </p:txBody>
      </p:sp>
      <p:sp>
        <p:nvSpPr>
          <p:cNvPr id="48" name="Arrow"/>
          <p:cNvSpPr/>
          <p:nvPr/>
        </p:nvSpPr>
        <p:spPr>
          <a:xfrm>
            <a:off x="8019288" y="3680460"/>
            <a:ext cx="192024" cy="0"/>
          </a:xfrm>
          <a:prstGeom prst="line">
            <a:avLst/>
          </a:prstGeom>
          <a:noFill/>
          <a:ln w="22225">
            <a:solidFill>
              <a:srgbClr val="5B6577"/>
            </a:solidFill>
            <a:prstDash val="dash"/>
            <a:tailEnd type="triangle"/>
          </a:ln>
        </p:spPr>
      </p:sp>
      <p:sp>
        <p:nvSpPr>
          <p:cNvPr id="49" name="Box: Student Answer Records"/>
          <p:cNvSpPr/>
          <p:nvPr/>
        </p:nvSpPr>
        <p:spPr>
          <a:xfrm>
            <a:off x="8229600" y="3383280"/>
            <a:ext cx="1280160" cy="594360"/>
          </a:xfrm>
          <a:prstGeom prst="roundRect">
            <a:avLst>
              <a:gd name="adj" fmla="val 12308"/>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Student Answer Records</a:t>
            </a:r>
            <a:endParaRPr lang="en-US" sz="1100" dirty="0"/>
          </a:p>
        </p:txBody>
      </p:sp>
      <p:sp>
        <p:nvSpPr>
          <p:cNvPr id="50" name="Box: "/>
          <p:cNvSpPr/>
          <p:nvPr/>
        </p:nvSpPr>
        <p:spPr>
          <a:xfrm>
            <a:off x="10012680" y="1051560"/>
            <a:ext cx="1600200" cy="3017520"/>
          </a:xfrm>
          <a:prstGeom prst="rect">
            <a:avLst>
              <a:gd name="adj" fmla="val 4571"/>
            </a:avLst>
          </a:prstGeom>
          <a:solidFill>
            <a:srgbClr val="ECE9FA"/>
          </a:solidFill>
          <a:ln w="19050">
            <a:solidFill>
              <a:srgbClr val="6D5BD0"/>
            </a:solidFill>
            <a:prstDash val="dash"/>
          </a:ln>
        </p:spPr>
        <p:txBody>
          <a:bodyPr wrap="square" lIns="76200" tIns="76200" rIns="76200" bIns="76200" rtlCol="0" anchor="ctr"/>
          <a:lstStyle/>
          <a:p>
            <a:pPr algn="ctr" indent="0" marL="0">
              <a:buNone/>
            </a:pPr>
            <a:endParaRPr lang="en-US" sz="1300" dirty="0"/>
          </a:p>
        </p:txBody>
      </p:sp>
      <p:sp>
        <p:nvSpPr>
          <p:cNvPr id="51" name="Text 49"/>
          <p:cNvSpPr txBox="1"/>
          <p:nvPr/>
        </p:nvSpPr>
        <p:spPr>
          <a:xfrm>
            <a:off x="10104120" y="1188720"/>
            <a:ext cx="1417320" cy="822960"/>
          </a:xfrm>
          <a:prstGeom prst="rect">
            <a:avLst/>
          </a:prstGeom>
          <a:noFill/>
          <a:ln/>
        </p:spPr>
        <p:txBody>
          <a:bodyPr wrap="square" lIns="0" tIns="0" rIns="0" bIns="0" rtlCol="0" anchor="t"/>
          <a:lstStyle/>
          <a:p>
            <a:pPr algn="ctr" indent="0" marL="0">
              <a:buNone/>
            </a:pPr>
            <a:r>
              <a:rPr lang="en-US" sz="1300" b="1" dirty="0">
                <a:solidFill>
                  <a:srgbClr val="6D5BD0"/>
                </a:solidFill>
                <a:latin typeface="Calibri" pitchFamily="34" charset="0"/>
                <a:ea typeface="Calibri" pitchFamily="34" charset="-122"/>
                <a:cs typeface="Calibri" pitchFamily="34" charset="-120"/>
              </a:rPr>
              <a:t>Evaluation component (Phase 4, planned)</a:t>
            </a:r>
            <a:endParaRPr lang="en-US" sz="1300" dirty="0"/>
          </a:p>
        </p:txBody>
      </p:sp>
      <p:sp>
        <p:nvSpPr>
          <p:cNvPr id="52" name="Text 50"/>
          <p:cNvSpPr txBox="1"/>
          <p:nvPr/>
        </p:nvSpPr>
        <p:spPr>
          <a:xfrm>
            <a:off x="10104120" y="2148840"/>
            <a:ext cx="1417320" cy="1371600"/>
          </a:xfrm>
          <a:prstGeom prst="rect">
            <a:avLst/>
          </a:prstGeom>
          <a:noFill/>
          <a:ln/>
        </p:spPr>
        <p:txBody>
          <a:bodyPr wrap="square" lIns="0" tIns="0" rIns="0" bIns="0" rtlCol="0" anchor="t"/>
          <a:lstStyle/>
          <a:p>
            <a:pPr algn="ctr" indent="0" marL="0">
              <a:buNone/>
            </a:pPr>
            <a:r>
              <a:rPr lang="en-US" sz="1200" dirty="0">
                <a:solidFill>
                  <a:srgbClr val="1F2937"/>
                </a:solidFill>
                <a:latin typeface="Calibri" pitchFamily="34" charset="0"/>
                <a:ea typeface="Calibri" pitchFamily="34" charset="-122"/>
                <a:cs typeface="Calibri" pitchFamily="34" charset="-120"/>
              </a:rPr>
              <a:t>Planned: uses exact teacher data and student answer records</a:t>
            </a:r>
            <a:endParaRPr lang="en-US" sz="1200" dirty="0"/>
          </a:p>
        </p:txBody>
      </p:sp>
      <p:sp>
        <p:nvSpPr>
          <p:cNvPr id="53" name="Arrow"/>
          <p:cNvSpPr/>
          <p:nvPr/>
        </p:nvSpPr>
        <p:spPr>
          <a:xfrm>
            <a:off x="9582912" y="2491740"/>
            <a:ext cx="429768" cy="0"/>
          </a:xfrm>
          <a:prstGeom prst="line">
            <a:avLst/>
          </a:prstGeom>
          <a:noFill/>
          <a:ln w="22225">
            <a:solidFill>
              <a:srgbClr val="6D5BD0"/>
            </a:solidFill>
            <a:prstDash val="dash"/>
            <a:tailEnd type="triangle"/>
          </a:ln>
        </p:spPr>
      </p:sp>
      <p:sp>
        <p:nvSpPr>
          <p:cNvPr id="54" name="Arrow"/>
          <p:cNvSpPr/>
          <p:nvPr/>
        </p:nvSpPr>
        <p:spPr>
          <a:xfrm>
            <a:off x="9537192" y="3680460"/>
            <a:ext cx="475488" cy="0"/>
          </a:xfrm>
          <a:prstGeom prst="line">
            <a:avLst/>
          </a:prstGeom>
          <a:noFill/>
          <a:ln w="22225">
            <a:solidFill>
              <a:srgbClr val="6D5BD0"/>
            </a:solidFill>
            <a:prstDash val="dash"/>
            <a:tailEnd type="triangle"/>
          </a:ln>
        </p:spPr>
      </p:sp>
      <p:sp>
        <p:nvSpPr>
          <p:cNvPr id="55" name="Box: "/>
          <p:cNvSpPr/>
          <p:nvPr/>
        </p:nvSpPr>
        <p:spPr>
          <a:xfrm>
            <a:off x="548640" y="4251960"/>
            <a:ext cx="5486400" cy="2057400"/>
          </a:xfrm>
          <a:prstGeom prst="rect">
            <a:avLst>
              <a:gd name="adj" fmla="val 3556"/>
            </a:avLst>
          </a:prstGeom>
          <a:solidFill>
            <a:srgbClr val="FFFFFF"/>
          </a:solidFill>
          <a:ln w="12700">
            <a:solidFill>
              <a:srgbClr val="CBD2DC"/>
            </a:solidFill>
          </a:ln>
        </p:spPr>
        <p:txBody>
          <a:bodyPr wrap="square" lIns="76200" tIns="76200" rIns="76200" bIns="76200" rtlCol="0" anchor="ctr"/>
          <a:lstStyle/>
          <a:p>
            <a:pPr algn="ctr" indent="0" marL="0">
              <a:buNone/>
            </a:pPr>
            <a:endParaRPr lang="en-US" sz="1300" dirty="0"/>
          </a:p>
        </p:txBody>
      </p:sp>
      <p:sp>
        <p:nvSpPr>
          <p:cNvPr id="56" name="Text 54"/>
          <p:cNvSpPr txBox="1"/>
          <p:nvPr/>
        </p:nvSpPr>
        <p:spPr>
          <a:xfrm>
            <a:off x="731520" y="4343400"/>
            <a:ext cx="5120640" cy="1920240"/>
          </a:xfrm>
          <a:prstGeom prst="rect">
            <a:avLst/>
          </a:prstGeom>
          <a:noFill/>
          <a:ln/>
        </p:spPr>
        <p:txBody>
          <a:bodyPr wrap="square" lIns="0" tIns="0" rIns="0" bIns="0" rtlCol="0" anchor="t"/>
          <a:lstStyle/>
          <a:p>
            <a:pPr indent="0" marL="0">
              <a:spcAft>
                <a:spcPts val="200"/>
              </a:spcAft>
              <a:buNone/>
            </a:pPr>
            <a:r>
              <a:rPr lang="en-US" sz="1500" b="1" dirty="0">
                <a:solidFill>
                  <a:srgbClr val="0B1F3A"/>
                </a:solidFill>
                <a:latin typeface="Calibri" pitchFamily="34" charset="0"/>
                <a:ea typeface="Calibri" pitchFamily="34" charset="-122"/>
                <a:cs typeface="Calibri" pitchFamily="34" charset="-120"/>
              </a:rPr>
              <a:t>How the pieces fit</a:t>
            </a:r>
            <a:endParaRPr lang="en-US" sz="1300" dirty="0"/>
          </a:p>
          <a:p>
            <a:pPr marL="342900" indent="-342900">
              <a:spcAft>
                <a:spcPts val="300"/>
              </a:spcAft>
              <a:buSzPct val="100000"/>
              <a:buChar char="•"/>
            </a:pPr>
            <a:r>
              <a:rPr lang="en-US" sz="1300" dirty="0">
                <a:solidFill>
                  <a:srgbClr val="1F2937"/>
                </a:solidFill>
                <a:latin typeface="Calibri" pitchFamily="34" charset="0"/>
                <a:ea typeface="Calibri" pitchFamily="34" charset="-122"/>
                <a:cs typeface="Calibri" pitchFamily="34" charset="-120"/>
              </a:rPr>
              <a:t>Teacher side: documents are stored, read (OCR if scanned), parsed into questions, then saved two ways.</a:t>
            </a:r>
            <a:endParaRPr lang="en-US" sz="1300" dirty="0"/>
          </a:p>
          <a:p>
            <a:pPr marL="342900" indent="-342900">
              <a:spcAft>
                <a:spcPts val="300"/>
              </a:spcAft>
              <a:buSzPct val="100000"/>
              <a:buChar char="•"/>
            </a:pPr>
            <a:r>
              <a:rPr lang="en-US" sz="1300" dirty="0">
                <a:solidFill>
                  <a:srgbClr val="1F2937"/>
                </a:solidFill>
                <a:latin typeface="Calibri" pitchFamily="34" charset="0"/>
                <a:ea typeface="Calibri" pitchFamily="34" charset="-122"/>
                <a:cs typeface="Calibri" pitchFamily="34" charset="-120"/>
              </a:rPr>
              <a:t>Student side: the selected OCR engine reads the sheet; answers are segmented and mapped.</a:t>
            </a:r>
            <a:endParaRPr lang="en-US" sz="1300" dirty="0"/>
          </a:p>
          <a:p>
            <a:pPr marL="342900" indent="-342900">
              <a:spcAft>
                <a:spcPts val="300"/>
              </a:spcAft>
              <a:buSzPct val="100000"/>
              <a:buChar char="•"/>
            </a:pPr>
            <a:r>
              <a:rPr lang="en-US" sz="1300" dirty="0">
                <a:solidFill>
                  <a:srgbClr val="1F2937"/>
                </a:solidFill>
                <a:latin typeface="Calibri" pitchFamily="34" charset="0"/>
                <a:ea typeface="Calibri" pitchFamily="34" charset="-122"/>
                <a:cs typeface="Calibri" pitchFamily="34" charset="-120"/>
              </a:rPr>
              <a:t>Gray = original files, navy = structured records (exact data), violet = vector index (semantic search).</a:t>
            </a:r>
            <a:endParaRPr lang="en-US" sz="1300" dirty="0"/>
          </a:p>
        </p:txBody>
      </p:sp>
      <p:sp>
        <p:nvSpPr>
          <p:cNvPr id="57" name="Box: "/>
          <p:cNvSpPr/>
          <p:nvPr/>
        </p:nvSpPr>
        <p:spPr>
          <a:xfrm>
            <a:off x="6217920" y="4251960"/>
            <a:ext cx="5394960" cy="2057400"/>
          </a:xfrm>
          <a:prstGeom prst="rect">
            <a:avLst>
              <a:gd name="adj" fmla="val 3556"/>
            </a:avLst>
          </a:prstGeom>
          <a:solidFill>
            <a:srgbClr val="FFFFFF"/>
          </a:solidFill>
          <a:ln w="12700">
            <a:solidFill>
              <a:srgbClr val="CBD2DC"/>
            </a:solidFill>
          </a:ln>
        </p:spPr>
        <p:txBody>
          <a:bodyPr wrap="square" lIns="76200" tIns="76200" rIns="76200" bIns="76200" rtlCol="0" anchor="ctr"/>
          <a:lstStyle/>
          <a:p>
            <a:pPr algn="ctr" indent="0" marL="0">
              <a:buNone/>
            </a:pPr>
            <a:endParaRPr lang="en-US" sz="1300" dirty="0"/>
          </a:p>
        </p:txBody>
      </p:sp>
      <p:sp>
        <p:nvSpPr>
          <p:cNvPr id="58" name="Text 56"/>
          <p:cNvSpPr txBox="1"/>
          <p:nvPr/>
        </p:nvSpPr>
        <p:spPr>
          <a:xfrm>
            <a:off x="6400800" y="4343400"/>
            <a:ext cx="5029200" cy="1920240"/>
          </a:xfrm>
          <a:prstGeom prst="rect">
            <a:avLst/>
          </a:prstGeom>
          <a:noFill/>
          <a:ln/>
        </p:spPr>
        <p:txBody>
          <a:bodyPr wrap="square" lIns="0" tIns="0" rIns="0" bIns="0" rtlCol="0" anchor="t"/>
          <a:lstStyle/>
          <a:p>
            <a:pPr algn="l" indent="0" marL="0">
              <a:spcAft>
                <a:spcPts val="300"/>
              </a:spcAft>
              <a:buNone/>
            </a:pPr>
            <a:r>
              <a:rPr lang="en-US" sz="1500" b="1" dirty="0">
                <a:solidFill>
                  <a:srgbClr val="0B1F3A"/>
                </a:solidFill>
                <a:latin typeface="Calibri" pitchFamily="34" charset="0"/>
                <a:ea typeface="Calibri" pitchFamily="34" charset="-122"/>
                <a:cs typeface="Calibri" pitchFamily="34" charset="-120"/>
              </a:rPr>
              <a:t>Technology stack</a:t>
            </a:r>
            <a:endParaRPr lang="en-US" sz="1300" dirty="0"/>
          </a:p>
          <a:p>
            <a:pPr algn="l" indent="0" marL="0">
              <a:spcAft>
                <a:spcPts val="200"/>
              </a:spcAft>
              <a:buNone/>
            </a:pPr>
            <a:r>
              <a:rPr lang="en-US" sz="1300" b="1" dirty="0">
                <a:solidFill>
                  <a:srgbClr val="1F2937"/>
                </a:solidFill>
                <a:latin typeface="Calibri" pitchFamily="34" charset="0"/>
                <a:ea typeface="Calibri" pitchFamily="34" charset="-122"/>
                <a:cs typeface="Calibri" pitchFamily="34" charset="-120"/>
              </a:rPr>
              <a:t>FastAPI and Python</a:t>
            </a:r>
            <a:pPr algn="l" indent="0" marL="0">
              <a:spcAft>
                <a:spcPts val="200"/>
              </a:spcAft>
              <a:buNone/>
            </a:pPr>
            <a:r>
              <a:rPr lang="en-US" sz="1300" dirty="0">
                <a:solidFill>
                  <a:srgbClr val="1F2937"/>
                </a:solidFill>
                <a:latin typeface="Calibri" pitchFamily="34" charset="0"/>
                <a:ea typeface="Calibri" pitchFamily="34" charset="-122"/>
                <a:cs typeface="Calibri" pitchFamily="34" charset="-120"/>
              </a:rPr>
              <a:t> — backend API</a:t>
            </a:r>
            <a:endParaRPr lang="en-US" sz="1300" dirty="0"/>
          </a:p>
          <a:p>
            <a:pPr algn="l" indent="0" marL="0">
              <a:spcAft>
                <a:spcPts val="200"/>
              </a:spcAft>
              <a:buNone/>
            </a:pPr>
            <a:r>
              <a:rPr lang="en-US" sz="1300" b="1" dirty="0">
                <a:solidFill>
                  <a:srgbClr val="1F2937"/>
                </a:solidFill>
                <a:latin typeface="Calibri" pitchFamily="34" charset="0"/>
                <a:ea typeface="Calibri" pitchFamily="34" charset="-122"/>
                <a:cs typeface="Calibri" pitchFamily="34" charset="-120"/>
              </a:rPr>
              <a:t>Standard OCR</a:t>
            </a:r>
            <a:pPr algn="l" indent="0" marL="0">
              <a:spcAft>
                <a:spcPts val="200"/>
              </a:spcAft>
              <a:buNone/>
            </a:pPr>
            <a:r>
              <a:rPr lang="en-US" sz="1300" dirty="0">
                <a:solidFill>
                  <a:srgbClr val="1F2937"/>
                </a:solidFill>
                <a:latin typeface="Calibri" pitchFamily="34" charset="0"/>
                <a:ea typeface="Calibri" pitchFamily="34" charset="-122"/>
                <a:cs typeface="Calibri" pitchFamily="34" charset="-120"/>
              </a:rPr>
              <a:t> — Gemma 3 Vision through Ollama</a:t>
            </a:r>
            <a:endParaRPr lang="en-US" sz="1300" dirty="0"/>
          </a:p>
          <a:p>
            <a:pPr algn="l" indent="0" marL="0">
              <a:spcAft>
                <a:spcPts val="200"/>
              </a:spcAft>
              <a:buNone/>
            </a:pPr>
            <a:r>
              <a:rPr lang="en-US" sz="1300" b="1" dirty="0">
                <a:solidFill>
                  <a:srgbClr val="1F2937"/>
                </a:solidFill>
                <a:latin typeface="Calibri" pitchFamily="34" charset="0"/>
                <a:ea typeface="Calibri" pitchFamily="34" charset="-122"/>
                <a:cs typeface="Calibri" pitchFamily="34" charset="-120"/>
              </a:rPr>
              <a:t>Chandra OCR</a:t>
            </a:r>
            <a:pPr algn="l" indent="0" marL="0">
              <a:spcAft>
                <a:spcPts val="200"/>
              </a:spcAft>
              <a:buNone/>
            </a:pPr>
            <a:r>
              <a:rPr lang="en-US" sz="1300" dirty="0">
                <a:solidFill>
                  <a:srgbClr val="1F2937"/>
                </a:solidFill>
                <a:latin typeface="Calibri" pitchFamily="34" charset="0"/>
                <a:ea typeface="Calibri" pitchFamily="34" charset="-122"/>
                <a:cs typeface="Calibri" pitchFamily="34" charset="-120"/>
              </a:rPr>
              <a:t> — Python / Hugging Face / PyTorch</a:t>
            </a:r>
            <a:endParaRPr lang="en-US" sz="1300" dirty="0"/>
          </a:p>
          <a:p>
            <a:pPr algn="l" indent="0" marL="0">
              <a:spcAft>
                <a:spcPts val="200"/>
              </a:spcAft>
              <a:buNone/>
            </a:pPr>
            <a:r>
              <a:rPr lang="en-US" sz="1300" b="1" dirty="0">
                <a:solidFill>
                  <a:srgbClr val="1F2937"/>
                </a:solidFill>
                <a:latin typeface="Calibri" pitchFamily="34" charset="0"/>
                <a:ea typeface="Calibri" pitchFamily="34" charset="-122"/>
                <a:cs typeface="Calibri" pitchFamily="34" charset="-120"/>
              </a:rPr>
              <a:t>Embeddings</a:t>
            </a:r>
            <a:pPr algn="l" indent="0" marL="0">
              <a:spcAft>
                <a:spcPts val="200"/>
              </a:spcAft>
              <a:buNone/>
            </a:pPr>
            <a:r>
              <a:rPr lang="en-US" sz="1300" dirty="0">
                <a:solidFill>
                  <a:srgbClr val="1F2937"/>
                </a:solidFill>
                <a:latin typeface="Calibri" pitchFamily="34" charset="0"/>
                <a:ea typeface="Calibri" pitchFamily="34" charset="-122"/>
                <a:cs typeface="Calibri" pitchFamily="34" charset="-120"/>
              </a:rPr>
              <a:t> — Ollama, qwen3-embedding:4b</a:t>
            </a:r>
            <a:endParaRPr lang="en-US" sz="1300" dirty="0"/>
          </a:p>
          <a:p>
            <a:pPr algn="l" indent="0" marL="0">
              <a:spcAft>
                <a:spcPts val="200"/>
              </a:spcAft>
              <a:buNone/>
            </a:pPr>
            <a:r>
              <a:rPr lang="en-US" sz="1300" b="1" dirty="0">
                <a:solidFill>
                  <a:srgbClr val="1F2937"/>
                </a:solidFill>
                <a:latin typeface="Calibri" pitchFamily="34" charset="0"/>
                <a:ea typeface="Calibri" pitchFamily="34" charset="-122"/>
                <a:cs typeface="Calibri" pitchFamily="34" charset="-120"/>
              </a:rPr>
              <a:t>Vector storage</a:t>
            </a:r>
            <a:pPr algn="l" indent="0" marL="0">
              <a:spcAft>
                <a:spcPts val="200"/>
              </a:spcAft>
              <a:buNone/>
            </a:pPr>
            <a:r>
              <a:rPr lang="en-US" sz="1300" dirty="0">
                <a:solidFill>
                  <a:srgbClr val="1F2937"/>
                </a:solidFill>
                <a:latin typeface="Calibri" pitchFamily="34" charset="0"/>
                <a:ea typeface="Calibri" pitchFamily="34" charset="-122"/>
                <a:cs typeface="Calibri" pitchFamily="34" charset="-120"/>
              </a:rPr>
              <a:t> — ChromaDB</a:t>
            </a:r>
            <a:endParaRPr lang="en-US" sz="1300" dirty="0"/>
          </a:p>
          <a:p>
            <a:pPr algn="l" indent="0" marL="0">
              <a:spcAft>
                <a:spcPts val="200"/>
              </a:spcAft>
              <a:buNone/>
            </a:pPr>
            <a:r>
              <a:rPr lang="en-US" sz="1300" b="1" dirty="0">
                <a:solidFill>
                  <a:srgbClr val="1F2937"/>
                </a:solidFill>
                <a:latin typeface="Calibri" pitchFamily="34" charset="0"/>
                <a:ea typeface="Calibri" pitchFamily="34" charset="-122"/>
                <a:cs typeface="Calibri" pitchFamily="34" charset="-120"/>
              </a:rPr>
              <a:t>Structured storage</a:t>
            </a:r>
            <a:pPr algn="l" indent="0" marL="0">
              <a:spcAft>
                <a:spcPts val="200"/>
              </a:spcAft>
              <a:buNone/>
            </a:pPr>
            <a:r>
              <a:rPr lang="en-US" sz="1300" dirty="0">
                <a:solidFill>
                  <a:srgbClr val="1F2937"/>
                </a:solidFill>
                <a:latin typeface="Calibri" pitchFamily="34" charset="0"/>
                <a:ea typeface="Calibri" pitchFamily="34" charset="-122"/>
                <a:cs typeface="Calibri" pitchFamily="34" charset="-120"/>
              </a:rPr>
              <a:t> — store.json (as reported)</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rgbClr val="0B1F3A"/>
                </a:solidFill>
                <a:latin typeface="Calibri" pitchFamily="34" charset="0"/>
                <a:ea typeface="Calibri" pitchFamily="34" charset="-122"/>
                <a:cs typeface="Calibri" pitchFamily="34" charset="-120"/>
              </a:rPr>
              <a:t>Phase 1 — OCR and Document Processing</a:t>
            </a:r>
            <a:endParaRPr lang="en-US" sz="2800" dirty="0"/>
          </a:p>
        </p:txBody>
      </p:sp>
      <p:sp>
        <p:nvSpPr>
          <p:cNvPr id="3" name="Shape 1"/>
          <p:cNvSpPr/>
          <p:nvPr/>
        </p:nvSpPr>
        <p:spPr>
          <a:xfrm>
            <a:off x="6172200" y="6510528"/>
            <a:ext cx="128016" cy="128016"/>
          </a:xfrm>
          <a:prstGeom prst="ellipse">
            <a:avLst/>
          </a:prstGeom>
          <a:solidFill>
            <a:srgbClr val="2E9E5B"/>
          </a:solidFill>
          <a:ln/>
        </p:spPr>
      </p:sp>
      <p:sp>
        <p:nvSpPr>
          <p:cNvPr id="4" name="Text 2"/>
          <p:cNvSpPr txBox="1"/>
          <p:nvPr/>
        </p:nvSpPr>
        <p:spPr>
          <a:xfrm>
            <a:off x="6373368" y="6446520"/>
            <a:ext cx="8229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Reported</a:t>
            </a:r>
            <a:endParaRPr lang="en-US" sz="1100" dirty="0"/>
          </a:p>
        </p:txBody>
      </p:sp>
      <p:sp>
        <p:nvSpPr>
          <p:cNvPr id="5" name="Shape 3"/>
          <p:cNvSpPr/>
          <p:nvPr/>
        </p:nvSpPr>
        <p:spPr>
          <a:xfrm>
            <a:off x="7315200" y="6510528"/>
            <a:ext cx="128016" cy="128016"/>
          </a:xfrm>
          <a:prstGeom prst="ellipse">
            <a:avLst/>
          </a:prstGeom>
          <a:solidFill>
            <a:srgbClr val="E0A100"/>
          </a:solidFill>
          <a:ln/>
        </p:spPr>
      </p:sp>
      <p:sp>
        <p:nvSpPr>
          <p:cNvPr id="6" name="Text 4"/>
          <p:cNvSpPr txBox="1"/>
          <p:nvPr/>
        </p:nvSpPr>
        <p:spPr>
          <a:xfrm>
            <a:off x="7516368" y="6446520"/>
            <a:ext cx="146304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Pending verification</a:t>
            </a:r>
            <a:endParaRPr lang="en-US" sz="1100" dirty="0"/>
          </a:p>
        </p:txBody>
      </p:sp>
      <p:sp>
        <p:nvSpPr>
          <p:cNvPr id="7" name="Shape 5"/>
          <p:cNvSpPr/>
          <p:nvPr/>
        </p:nvSpPr>
        <p:spPr>
          <a:xfrm>
            <a:off x="9235440" y="6492240"/>
            <a:ext cx="274320" cy="164592"/>
          </a:xfrm>
          <a:prstGeom prst="roundRect">
            <a:avLst/>
          </a:prstGeom>
          <a:solidFill>
            <a:srgbClr val="FFFFFF"/>
          </a:solidFill>
          <a:ln w="15875">
            <a:solidFill>
              <a:srgbClr val="6D5BD0"/>
            </a:solidFill>
            <a:prstDash val="dash"/>
          </a:ln>
        </p:spPr>
      </p:sp>
      <p:sp>
        <p:nvSpPr>
          <p:cNvPr id="8" name="Text 6"/>
          <p:cNvSpPr txBox="1"/>
          <p:nvPr/>
        </p:nvSpPr>
        <p:spPr>
          <a:xfrm>
            <a:off x="9601200" y="6446520"/>
            <a:ext cx="17373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Planned / not confirmed</a:t>
            </a:r>
            <a:endParaRPr lang="en-US" sz="1100" dirty="0"/>
          </a:p>
        </p:txBody>
      </p:sp>
      <p:sp>
        <p:nvSpPr>
          <p:cNvPr id="9" name="Text 7"/>
          <p:cNvSpPr txBox="1"/>
          <p:nvPr/>
        </p:nvSpPr>
        <p:spPr>
          <a:xfrm>
            <a:off x="548640" y="1051560"/>
            <a:ext cx="5669280" cy="4389120"/>
          </a:xfrm>
          <a:prstGeom prst="rect">
            <a:avLst/>
          </a:prstGeom>
          <a:noFill/>
          <a:ln/>
        </p:spPr>
        <p:txBody>
          <a:bodyPr wrap="square" lIns="0" tIns="0" rIns="0" bIns="0" rtlCol="0" anchor="t"/>
          <a:lstStyle/>
          <a:p>
            <a:pPr indent="0" marL="0">
              <a:spcAft>
                <a:spcPts val="200"/>
              </a:spcAft>
              <a:buNone/>
            </a:pPr>
            <a:r>
              <a:rPr lang="en-US" sz="1600" b="1" dirty="0">
                <a:solidFill>
                  <a:srgbClr val="0B1F3A"/>
                </a:solidFill>
                <a:latin typeface="Calibri" pitchFamily="34" charset="0"/>
                <a:ea typeface="Calibri" pitchFamily="34" charset="-122"/>
                <a:cs typeface="Calibri" pitchFamily="34" charset="-120"/>
              </a:rPr>
              <a:t>Purpose</a:t>
            </a:r>
            <a:endParaRPr lang="en-US" sz="1400" dirty="0"/>
          </a:p>
          <a:p>
            <a:pPr indent="0" marL="0">
              <a:spcAft>
                <a:spcPts val="300"/>
              </a:spcAft>
              <a:buNone/>
            </a:pPr>
            <a:r>
              <a:rPr lang="en-US" sz="1400" dirty="0">
                <a:solidFill>
                  <a:srgbClr val="1F2937"/>
                </a:solidFill>
                <a:latin typeface="Calibri" pitchFamily="34" charset="0"/>
                <a:ea typeface="Calibri" pitchFamily="34" charset="-122"/>
                <a:cs typeface="Calibri" pitchFamily="34" charset="-120"/>
              </a:rPr>
              <a:t>One OCR interface for the whole application: the user picks an engine, and the backend runs exactly that engine.</a:t>
            </a:r>
            <a:endParaRPr lang="en-US" sz="1400" dirty="0"/>
          </a:p>
          <a:p>
            <a:pPr indent="0" marL="0">
              <a:spcBef>
                <a:spcPts val="800"/>
              </a:spcBef>
              <a:spcAft>
                <a:spcPts val="200"/>
              </a:spcAft>
              <a:buNone/>
            </a:pPr>
            <a:r>
              <a:rPr lang="en-US" sz="1600" b="1" dirty="0">
                <a:solidFill>
                  <a:srgbClr val="0F9D9A"/>
                </a:solidFill>
                <a:latin typeface="Calibri" pitchFamily="34" charset="0"/>
                <a:ea typeface="Calibri" pitchFamily="34" charset="-122"/>
                <a:cs typeface="Calibri" pitchFamily="34" charset="-120"/>
              </a:rPr>
              <a:t>Standard OCR</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Gemma 3 Vision through Ollama, as reported</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Intended for document and handwriting transcription</a:t>
            </a:r>
            <a:endParaRPr lang="en-US" sz="1400" dirty="0"/>
          </a:p>
          <a:p>
            <a:pPr indent="0" marL="0">
              <a:spcBef>
                <a:spcPts val="800"/>
              </a:spcBef>
              <a:spcAft>
                <a:spcPts val="200"/>
              </a:spcAft>
              <a:buNone/>
            </a:pPr>
            <a:r>
              <a:rPr lang="en-US" sz="1600" b="1" dirty="0">
                <a:solidFill>
                  <a:srgbClr val="6D5BD0"/>
                </a:solidFill>
                <a:latin typeface="Calibri" pitchFamily="34" charset="0"/>
                <a:ea typeface="Calibri" pitchFamily="34" charset="-122"/>
                <a:cs typeface="Calibri" pitchFamily="34" charset="-120"/>
              </a:rPr>
              <a:t>Chandra OCR</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Existing Python / Hugging Face / PyTorch path</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Alternative route for document layouts and text</a:t>
            </a:r>
            <a:endParaRPr lang="en-US" sz="1400" dirty="0"/>
          </a:p>
          <a:p>
            <a:pPr indent="0" marL="0">
              <a:spcBef>
                <a:spcPts val="800"/>
              </a:spcBef>
              <a:spcAft>
                <a:spcPts val="200"/>
              </a:spcAft>
              <a:buNone/>
            </a:pPr>
            <a:r>
              <a:rPr lang="en-US" sz="1600" b="1" dirty="0">
                <a:solidFill>
                  <a:srgbClr val="0B1F3A"/>
                </a:solidFill>
                <a:latin typeface="Calibri" pitchFamily="34" charset="0"/>
                <a:ea typeface="Calibri" pitchFamily="34" charset="-122"/>
                <a:cs typeface="Calibri" pitchFamily="34" charset="-120"/>
              </a:rPr>
              <a:t>Safeguards</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Selected engine controls the actual backend inference</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No silent fallback to another engine</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Original files stay available for inspection</a:t>
            </a:r>
            <a:endParaRPr lang="en-US" sz="1400" dirty="0"/>
          </a:p>
        </p:txBody>
      </p:sp>
      <p:sp>
        <p:nvSpPr>
          <p:cNvPr id="10" name="Box: OCR Selector (standard | chand"/>
          <p:cNvSpPr/>
          <p:nvPr/>
        </p:nvSpPr>
        <p:spPr>
          <a:xfrm>
            <a:off x="7315200" y="1143000"/>
            <a:ext cx="2743200" cy="548640"/>
          </a:xfrm>
          <a:prstGeom prst="roundRect">
            <a:avLst>
              <a:gd name="adj" fmla="val 13333"/>
            </a:avLst>
          </a:prstGeom>
          <a:solidFill>
            <a:srgbClr val="0B1F3A"/>
          </a:solidFill>
          <a:ln w="12700">
            <a:solidFill>
              <a:srgbClr val="0B1F3A"/>
            </a:solidFill>
          </a:ln>
        </p:spPr>
        <p:txBody>
          <a:bodyPr wrap="square" lIns="76200" tIns="76200" rIns="76200" bIns="762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OCR Selector (standard | chandra)</a:t>
            </a:r>
            <a:endParaRPr lang="en-US" sz="1200" dirty="0"/>
          </a:p>
        </p:txBody>
      </p:sp>
      <p:sp>
        <p:nvSpPr>
          <p:cNvPr id="11" name="Box: FastAPI Endpoint"/>
          <p:cNvSpPr/>
          <p:nvPr/>
        </p:nvSpPr>
        <p:spPr>
          <a:xfrm>
            <a:off x="7315200" y="2011680"/>
            <a:ext cx="2743200" cy="548640"/>
          </a:xfrm>
          <a:prstGeom prst="roundRect">
            <a:avLst>
              <a:gd name="adj" fmla="val 13333"/>
            </a:avLst>
          </a:prstGeom>
          <a:solidFill>
            <a:srgbClr val="FFFFFF"/>
          </a:solidFill>
          <a:ln w="12700">
            <a:solidFill>
              <a:srgbClr val="CBD2DC"/>
            </a:solidFill>
          </a:ln>
        </p:spPr>
        <p:txBody>
          <a:bodyPr wrap="square" lIns="76200" tIns="76200" rIns="76200" bIns="762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FastAPI Endpoint</a:t>
            </a:r>
            <a:endParaRPr lang="en-US" sz="1300" dirty="0"/>
          </a:p>
        </p:txBody>
      </p:sp>
      <p:sp>
        <p:nvSpPr>
          <p:cNvPr id="12" name="Box: OCR Router"/>
          <p:cNvSpPr/>
          <p:nvPr/>
        </p:nvSpPr>
        <p:spPr>
          <a:xfrm>
            <a:off x="7315200" y="2880360"/>
            <a:ext cx="2743200" cy="548640"/>
          </a:xfrm>
          <a:prstGeom prst="roundRect">
            <a:avLst>
              <a:gd name="adj" fmla="val 13333"/>
            </a:avLst>
          </a:prstGeom>
          <a:solidFill>
            <a:srgbClr val="0B1F3A"/>
          </a:solidFill>
          <a:ln w="12700">
            <a:solidFill>
              <a:srgbClr val="0B1F3A"/>
            </a:solidFill>
          </a:ln>
        </p:spPr>
        <p:txBody>
          <a:bodyPr wrap="square" lIns="76200" tIns="76200" rIns="76200" bIns="762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OCR Router</a:t>
            </a:r>
            <a:endParaRPr lang="en-US" sz="1300" dirty="0"/>
          </a:p>
        </p:txBody>
      </p:sp>
      <p:sp>
        <p:nvSpPr>
          <p:cNvPr id="13" name="Box: Standard OCR"/>
          <p:cNvSpPr/>
          <p:nvPr/>
        </p:nvSpPr>
        <p:spPr>
          <a:xfrm>
            <a:off x="6583680" y="3840480"/>
            <a:ext cx="2377440" cy="594360"/>
          </a:xfrm>
          <a:prstGeom prst="roundRect">
            <a:avLst>
              <a:gd name="adj" fmla="val 12308"/>
            </a:avLst>
          </a:prstGeom>
          <a:solidFill>
            <a:srgbClr val="FFFFFF"/>
          </a:solidFill>
          <a:ln w="12700">
            <a:solidFill>
              <a:srgbClr val="0F9D9A"/>
            </a:solidFill>
          </a:ln>
        </p:spPr>
        <p:txBody>
          <a:bodyPr wrap="square" lIns="76200" tIns="76200" rIns="76200" bIns="762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Standard OCR</a:t>
            </a:r>
            <a:endParaRPr lang="en-US" sz="1300" dirty="0"/>
          </a:p>
        </p:txBody>
      </p:sp>
      <p:sp>
        <p:nvSpPr>
          <p:cNvPr id="14" name="Status dot"/>
          <p:cNvSpPr/>
          <p:nvPr/>
        </p:nvSpPr>
        <p:spPr>
          <a:xfrm>
            <a:off x="8778240" y="3904488"/>
            <a:ext cx="128016" cy="128016"/>
          </a:xfrm>
          <a:prstGeom prst="ellipse">
            <a:avLst/>
          </a:prstGeom>
          <a:solidFill>
            <a:srgbClr val="2E9E5B"/>
          </a:solidFill>
          <a:ln/>
        </p:spPr>
      </p:sp>
      <p:sp>
        <p:nvSpPr>
          <p:cNvPr id="15" name="Box: Chandra OCR"/>
          <p:cNvSpPr/>
          <p:nvPr/>
        </p:nvSpPr>
        <p:spPr>
          <a:xfrm>
            <a:off x="9235440" y="3840480"/>
            <a:ext cx="2377440" cy="594360"/>
          </a:xfrm>
          <a:prstGeom prst="roundRect">
            <a:avLst>
              <a:gd name="adj" fmla="val 12308"/>
            </a:avLst>
          </a:prstGeom>
          <a:solidFill>
            <a:srgbClr val="FFFFFF"/>
          </a:solidFill>
          <a:ln w="12700">
            <a:solidFill>
              <a:srgbClr val="6D5BD0"/>
            </a:solidFill>
          </a:ln>
        </p:spPr>
        <p:txBody>
          <a:bodyPr wrap="square" lIns="76200" tIns="76200" rIns="76200" bIns="762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Chandra OCR</a:t>
            </a:r>
            <a:endParaRPr lang="en-US" sz="1300" dirty="0"/>
          </a:p>
        </p:txBody>
      </p:sp>
      <p:sp>
        <p:nvSpPr>
          <p:cNvPr id="16" name="Status dot"/>
          <p:cNvSpPr/>
          <p:nvPr/>
        </p:nvSpPr>
        <p:spPr>
          <a:xfrm>
            <a:off x="11430000" y="3904488"/>
            <a:ext cx="128016" cy="128016"/>
          </a:xfrm>
          <a:prstGeom prst="ellipse">
            <a:avLst/>
          </a:prstGeom>
          <a:solidFill>
            <a:srgbClr val="2E9E5B"/>
          </a:solidFill>
          <a:ln/>
        </p:spPr>
      </p:sp>
      <p:sp>
        <p:nvSpPr>
          <p:cNvPr id="17" name="Box: Extracted Text and Page Result"/>
          <p:cNvSpPr/>
          <p:nvPr/>
        </p:nvSpPr>
        <p:spPr>
          <a:xfrm>
            <a:off x="7315200" y="4754880"/>
            <a:ext cx="2743200" cy="594360"/>
          </a:xfrm>
          <a:prstGeom prst="roundRect">
            <a:avLst>
              <a:gd name="adj" fmla="val 12308"/>
            </a:avLst>
          </a:prstGeom>
          <a:solidFill>
            <a:srgbClr val="E3F4F3"/>
          </a:solidFill>
          <a:ln w="12700">
            <a:solidFill>
              <a:srgbClr val="0F9D9A"/>
            </a:solidFill>
          </a:ln>
        </p:spPr>
        <p:txBody>
          <a:bodyPr wrap="square" lIns="76200" tIns="76200" rIns="76200" bIns="76200" rtlCol="0" anchor="ctr"/>
          <a:lstStyle/>
          <a:p>
            <a:pPr algn="ctr" indent="0" marL="0">
              <a:buNone/>
            </a:pPr>
            <a:r>
              <a:rPr lang="en-US" sz="1250" b="1" dirty="0">
                <a:solidFill>
                  <a:srgbClr val="1F2937"/>
                </a:solidFill>
                <a:latin typeface="Calibri" pitchFamily="34" charset="0"/>
                <a:ea typeface="Calibri" pitchFamily="34" charset="-122"/>
                <a:cs typeface="Calibri" pitchFamily="34" charset="-120"/>
              </a:rPr>
              <a:t>Extracted Text and Page Results</a:t>
            </a:r>
            <a:endParaRPr lang="en-US" sz="1250" dirty="0"/>
          </a:p>
        </p:txBody>
      </p:sp>
      <p:sp>
        <p:nvSpPr>
          <p:cNvPr id="18" name="Arrow"/>
          <p:cNvSpPr/>
          <p:nvPr/>
        </p:nvSpPr>
        <p:spPr>
          <a:xfrm>
            <a:off x="8686800" y="1709928"/>
            <a:ext cx="0" cy="283464"/>
          </a:xfrm>
          <a:prstGeom prst="line">
            <a:avLst/>
          </a:prstGeom>
          <a:noFill/>
          <a:ln w="22225">
            <a:solidFill>
              <a:srgbClr val="5B6577"/>
            </a:solidFill>
            <a:prstDash val="solid"/>
            <a:tailEnd type="triangle"/>
          </a:ln>
        </p:spPr>
      </p:sp>
      <p:sp>
        <p:nvSpPr>
          <p:cNvPr id="19" name="Arrow"/>
          <p:cNvSpPr/>
          <p:nvPr/>
        </p:nvSpPr>
        <p:spPr>
          <a:xfrm>
            <a:off x="8686800" y="2578608"/>
            <a:ext cx="0" cy="283464"/>
          </a:xfrm>
          <a:prstGeom prst="line">
            <a:avLst/>
          </a:prstGeom>
          <a:noFill/>
          <a:ln w="22225">
            <a:solidFill>
              <a:srgbClr val="5B6577"/>
            </a:solidFill>
            <a:prstDash val="solid"/>
            <a:tailEnd type="triangle"/>
          </a:ln>
        </p:spPr>
      </p:sp>
      <p:sp>
        <p:nvSpPr>
          <p:cNvPr id="20" name="Arrow"/>
          <p:cNvSpPr/>
          <p:nvPr/>
        </p:nvSpPr>
        <p:spPr>
          <a:xfrm flipH="1">
            <a:off x="7772400" y="3447288"/>
            <a:ext cx="182880" cy="374904"/>
          </a:xfrm>
          <a:prstGeom prst="line">
            <a:avLst/>
          </a:prstGeom>
          <a:noFill/>
          <a:ln w="22225">
            <a:solidFill>
              <a:srgbClr val="5B6577"/>
            </a:solidFill>
            <a:prstDash val="solid"/>
            <a:tailEnd type="triangle"/>
          </a:ln>
        </p:spPr>
      </p:sp>
      <p:sp>
        <p:nvSpPr>
          <p:cNvPr id="21" name="Arrow"/>
          <p:cNvSpPr/>
          <p:nvPr/>
        </p:nvSpPr>
        <p:spPr>
          <a:xfrm>
            <a:off x="9418320" y="3447288"/>
            <a:ext cx="1005840" cy="374904"/>
          </a:xfrm>
          <a:prstGeom prst="line">
            <a:avLst/>
          </a:prstGeom>
          <a:noFill/>
          <a:ln w="22225">
            <a:solidFill>
              <a:srgbClr val="5B6577"/>
            </a:solidFill>
            <a:prstDash val="solid"/>
            <a:tailEnd type="triangle"/>
          </a:ln>
        </p:spPr>
      </p:sp>
      <p:sp>
        <p:nvSpPr>
          <p:cNvPr id="22" name="Arrow"/>
          <p:cNvSpPr/>
          <p:nvPr/>
        </p:nvSpPr>
        <p:spPr>
          <a:xfrm>
            <a:off x="7772400" y="4453128"/>
            <a:ext cx="365760" cy="283464"/>
          </a:xfrm>
          <a:prstGeom prst="line">
            <a:avLst/>
          </a:prstGeom>
          <a:noFill/>
          <a:ln w="22225">
            <a:solidFill>
              <a:srgbClr val="5B6577"/>
            </a:solidFill>
            <a:prstDash val="solid"/>
            <a:tailEnd type="triangle"/>
          </a:ln>
        </p:spPr>
      </p:sp>
      <p:sp>
        <p:nvSpPr>
          <p:cNvPr id="23" name="Arrow"/>
          <p:cNvSpPr/>
          <p:nvPr/>
        </p:nvSpPr>
        <p:spPr>
          <a:xfrm flipH="1">
            <a:off x="9875520" y="4453128"/>
            <a:ext cx="548640" cy="283464"/>
          </a:xfrm>
          <a:prstGeom prst="line">
            <a:avLst/>
          </a:prstGeom>
          <a:noFill/>
          <a:ln w="22225">
            <a:solidFill>
              <a:srgbClr val="5B6577"/>
            </a:solidFill>
            <a:prstDash val="solid"/>
            <a:tailEnd type="triangle"/>
          </a:ln>
        </p:spPr>
      </p:sp>
      <p:sp>
        <p:nvSpPr>
          <p:cNvPr id="24" name="Text 22"/>
          <p:cNvSpPr/>
          <p:nvPr/>
        </p:nvSpPr>
        <p:spPr>
          <a:xfrm>
            <a:off x="548640" y="5532120"/>
            <a:ext cx="11064240" cy="777240"/>
          </a:xfrm>
          <a:prstGeom prst="roundRect">
            <a:avLst>
              <a:gd name="adj" fmla="val 9412"/>
            </a:avLst>
          </a:prstGeom>
          <a:solidFill>
            <a:srgbClr val="FFF4D6"/>
          </a:solidFill>
          <a:ln w="12700">
            <a:solidFill>
              <a:srgbClr val="E0A100"/>
            </a:solidFill>
          </a:ln>
        </p:spPr>
        <p:txBody>
          <a:bodyPr wrap="square" lIns="152400" tIns="152400" rIns="152400" bIns="152400" rtlCol="0" anchor="ctr"/>
          <a:lstStyle/>
          <a:p>
            <a:pPr algn="l" indent="0" marL="0">
              <a:buNone/>
            </a:pPr>
            <a:r>
              <a:rPr lang="en-US" sz="1300" b="1" dirty="0">
                <a:solidFill>
                  <a:srgbClr val="8A6500"/>
                </a:solidFill>
                <a:latin typeface="Calibri" pitchFamily="34" charset="0"/>
                <a:ea typeface="Calibri" pitchFamily="34" charset="-122"/>
                <a:cs typeface="Calibri" pitchFamily="34" charset="-120"/>
              </a:rPr>
              <a:t>Status: </a:t>
            </a:r>
            <a:pPr algn="l" indent="0" marL="0">
              <a:buNone/>
            </a:pPr>
            <a:r>
              <a:rPr lang="en-US" sz="1300" dirty="0">
                <a:solidFill>
                  <a:srgbClr val="1F2937"/>
                </a:solidFill>
                <a:latin typeface="Calibri" pitchFamily="34" charset="0"/>
                <a:ea typeface="Calibri" pitchFamily="34" charset="-122"/>
                <a:cs typeface="Calibri" pitchFamily="34" charset="-120"/>
              </a:rPr>
              <a:t>Standard and Chandra were reported as working in the coding-agent audit; runtime behavior requires retesting. Surya is no longer an intended active option because of the reported environment/Docker permission issue.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rgbClr val="0B1F3A"/>
                </a:solidFill>
                <a:latin typeface="Calibri" pitchFamily="34" charset="0"/>
                <a:ea typeface="Calibri" pitchFamily="34" charset="-122"/>
                <a:cs typeface="Calibri" pitchFamily="34" charset="-120"/>
              </a:rPr>
              <a:t>Phase 2 — Teacher Knowledge Ingestion</a:t>
            </a:r>
            <a:endParaRPr lang="en-US" sz="2800" dirty="0"/>
          </a:p>
        </p:txBody>
      </p:sp>
      <p:sp>
        <p:nvSpPr>
          <p:cNvPr id="3" name="Shape 1"/>
          <p:cNvSpPr/>
          <p:nvPr/>
        </p:nvSpPr>
        <p:spPr>
          <a:xfrm>
            <a:off x="6172200" y="6510528"/>
            <a:ext cx="128016" cy="128016"/>
          </a:xfrm>
          <a:prstGeom prst="ellipse">
            <a:avLst/>
          </a:prstGeom>
          <a:solidFill>
            <a:srgbClr val="2E9E5B"/>
          </a:solidFill>
          <a:ln/>
        </p:spPr>
      </p:sp>
      <p:sp>
        <p:nvSpPr>
          <p:cNvPr id="4" name="Text 2"/>
          <p:cNvSpPr txBox="1"/>
          <p:nvPr/>
        </p:nvSpPr>
        <p:spPr>
          <a:xfrm>
            <a:off x="6373368" y="6446520"/>
            <a:ext cx="8229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Reported</a:t>
            </a:r>
            <a:endParaRPr lang="en-US" sz="1100" dirty="0"/>
          </a:p>
        </p:txBody>
      </p:sp>
      <p:sp>
        <p:nvSpPr>
          <p:cNvPr id="5" name="Shape 3"/>
          <p:cNvSpPr/>
          <p:nvPr/>
        </p:nvSpPr>
        <p:spPr>
          <a:xfrm>
            <a:off x="7315200" y="6510528"/>
            <a:ext cx="128016" cy="128016"/>
          </a:xfrm>
          <a:prstGeom prst="ellipse">
            <a:avLst/>
          </a:prstGeom>
          <a:solidFill>
            <a:srgbClr val="E0A100"/>
          </a:solidFill>
          <a:ln/>
        </p:spPr>
      </p:sp>
      <p:sp>
        <p:nvSpPr>
          <p:cNvPr id="6" name="Text 4"/>
          <p:cNvSpPr txBox="1"/>
          <p:nvPr/>
        </p:nvSpPr>
        <p:spPr>
          <a:xfrm>
            <a:off x="7516368" y="6446520"/>
            <a:ext cx="146304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Pending verification</a:t>
            </a:r>
            <a:endParaRPr lang="en-US" sz="1100" dirty="0"/>
          </a:p>
        </p:txBody>
      </p:sp>
      <p:sp>
        <p:nvSpPr>
          <p:cNvPr id="7" name="Shape 5"/>
          <p:cNvSpPr/>
          <p:nvPr/>
        </p:nvSpPr>
        <p:spPr>
          <a:xfrm>
            <a:off x="9235440" y="6492240"/>
            <a:ext cx="274320" cy="164592"/>
          </a:xfrm>
          <a:prstGeom prst="roundRect">
            <a:avLst/>
          </a:prstGeom>
          <a:solidFill>
            <a:srgbClr val="FFFFFF"/>
          </a:solidFill>
          <a:ln w="15875">
            <a:solidFill>
              <a:srgbClr val="6D5BD0"/>
            </a:solidFill>
            <a:prstDash val="dash"/>
          </a:ln>
        </p:spPr>
      </p:sp>
      <p:sp>
        <p:nvSpPr>
          <p:cNvPr id="8" name="Text 6"/>
          <p:cNvSpPr txBox="1"/>
          <p:nvPr/>
        </p:nvSpPr>
        <p:spPr>
          <a:xfrm>
            <a:off x="9601200" y="6446520"/>
            <a:ext cx="17373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Planned / not confirmed</a:t>
            </a:r>
            <a:endParaRPr lang="en-US" sz="1100" dirty="0"/>
          </a:p>
        </p:txBody>
      </p:sp>
      <p:sp>
        <p:nvSpPr>
          <p:cNvPr id="9" name="Text 7"/>
          <p:cNvSpPr txBox="1"/>
          <p:nvPr/>
        </p:nvSpPr>
        <p:spPr>
          <a:xfrm>
            <a:off x="548640" y="1051560"/>
            <a:ext cx="5760720" cy="3566160"/>
          </a:xfrm>
          <a:prstGeom prst="rect">
            <a:avLst/>
          </a:prstGeom>
          <a:noFill/>
          <a:ln/>
        </p:spPr>
        <p:txBody>
          <a:bodyPr wrap="square" lIns="0" tIns="0" rIns="0" bIns="0" rtlCol="0" anchor="t"/>
          <a:lstStyle/>
          <a:p>
            <a:pPr indent="0" marL="0">
              <a:spcAft>
                <a:spcPts val="200"/>
              </a:spcAft>
              <a:buNone/>
            </a:pPr>
            <a:r>
              <a:rPr lang="en-US" sz="1600" b="1" dirty="0">
                <a:solidFill>
                  <a:srgbClr val="0B1F3A"/>
                </a:solidFill>
                <a:latin typeface="Calibri" pitchFamily="34" charset="0"/>
                <a:ea typeface="Calibri" pitchFamily="34" charset="-122"/>
                <a:cs typeface="Calibri" pitchFamily="34" charset="-120"/>
              </a:rPr>
              <a:t>What happens to teacher documents</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The teacher uploads the question paper and the model answer / rubric; originals are preserved.</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Text is extracted from PDF/DOCX, or through the Phase 1 OCR for scanned files and images.</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The parser finds questions, sub-questions, marks and answers, and links each question to its model answer and rubric.</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Content is saved as structured records, and also split into semantic chunks and embedded with qwen3-embedding:4b through Ollama.</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Chunks and embeddings are persisted in ChromaDB; the portal shows Processing, Ready or Failed.</a:t>
            </a:r>
            <a:endParaRPr lang="en-US" sz="1400" dirty="0"/>
          </a:p>
        </p:txBody>
      </p:sp>
      <p:sp>
        <p:nvSpPr>
          <p:cNvPr id="10" name="Box: Parsed teacher content"/>
          <p:cNvSpPr/>
          <p:nvPr/>
        </p:nvSpPr>
        <p:spPr>
          <a:xfrm>
            <a:off x="7498080" y="1143000"/>
            <a:ext cx="3200400" cy="548640"/>
          </a:xfrm>
          <a:prstGeom prst="roundRect">
            <a:avLst>
              <a:gd name="adj" fmla="val 13333"/>
            </a:avLst>
          </a:prstGeom>
          <a:solidFill>
            <a:srgbClr val="E3F4F3"/>
          </a:solidFill>
          <a:ln w="12700">
            <a:solidFill>
              <a:srgbClr val="0F9D9A"/>
            </a:solidFill>
          </a:ln>
        </p:spPr>
        <p:txBody>
          <a:bodyPr wrap="square" lIns="76200" tIns="76200" rIns="76200" bIns="76200" rtlCol="0" anchor="ctr"/>
          <a:lstStyle/>
          <a:p>
            <a:pPr algn="ctr" indent="0" marL="0">
              <a:buNone/>
            </a:pPr>
            <a:r>
              <a:rPr lang="en-US" sz="1300" b="1" dirty="0">
                <a:solidFill>
                  <a:srgbClr val="1F2937"/>
                </a:solidFill>
                <a:latin typeface="Calibri" pitchFamily="34" charset="0"/>
                <a:ea typeface="Calibri" pitchFamily="34" charset="-122"/>
                <a:cs typeface="Calibri" pitchFamily="34" charset="-120"/>
              </a:rPr>
              <a:t>Parsed teacher content</a:t>
            </a:r>
            <a:endParaRPr lang="en-US" sz="1300" dirty="0"/>
          </a:p>
        </p:txBody>
      </p:sp>
      <p:sp>
        <p:nvSpPr>
          <p:cNvPr id="11" name="Arrow"/>
          <p:cNvSpPr/>
          <p:nvPr/>
        </p:nvSpPr>
        <p:spPr>
          <a:xfrm flipH="1">
            <a:off x="7818120" y="1709928"/>
            <a:ext cx="320040" cy="393192"/>
          </a:xfrm>
          <a:prstGeom prst="line">
            <a:avLst/>
          </a:prstGeom>
          <a:noFill/>
          <a:ln w="22225">
            <a:solidFill>
              <a:srgbClr val="5B6577"/>
            </a:solidFill>
            <a:prstDash val="solid"/>
            <a:tailEnd type="triangle"/>
          </a:ln>
        </p:spPr>
      </p:sp>
      <p:sp>
        <p:nvSpPr>
          <p:cNvPr id="12" name="Arrow"/>
          <p:cNvSpPr/>
          <p:nvPr/>
        </p:nvSpPr>
        <p:spPr>
          <a:xfrm>
            <a:off x="10058400" y="1709928"/>
            <a:ext cx="320040" cy="393192"/>
          </a:xfrm>
          <a:prstGeom prst="line">
            <a:avLst/>
          </a:prstGeom>
          <a:noFill/>
          <a:ln w="22225">
            <a:solidFill>
              <a:srgbClr val="5B6577"/>
            </a:solidFill>
            <a:prstDash val="solid"/>
            <a:tailEnd type="triangle"/>
          </a:ln>
        </p:spPr>
      </p:sp>
      <p:sp>
        <p:nvSpPr>
          <p:cNvPr id="13" name="Box: "/>
          <p:cNvSpPr/>
          <p:nvPr/>
        </p:nvSpPr>
        <p:spPr>
          <a:xfrm>
            <a:off x="6583680" y="2103120"/>
            <a:ext cx="2468880" cy="2423160"/>
          </a:xfrm>
          <a:prstGeom prst="rect">
            <a:avLst>
              <a:gd name="adj" fmla="val 3019"/>
            </a:avLst>
          </a:prstGeom>
          <a:solidFill>
            <a:srgbClr val="FFFFFF"/>
          </a:solidFill>
          <a:ln w="12700">
            <a:solidFill>
              <a:srgbClr val="0B1F3A"/>
            </a:solidFill>
          </a:ln>
        </p:spPr>
        <p:txBody>
          <a:bodyPr wrap="square" lIns="76200" tIns="76200" rIns="76200" bIns="76200" rtlCol="0" anchor="ctr"/>
          <a:lstStyle/>
          <a:p>
            <a:pPr algn="ctr" indent="0" marL="0">
              <a:buNone/>
            </a:pPr>
            <a:endParaRPr lang="en-US" sz="1300" dirty="0"/>
          </a:p>
        </p:txBody>
      </p:sp>
      <p:sp>
        <p:nvSpPr>
          <p:cNvPr id="14" name="Text 12"/>
          <p:cNvSpPr txBox="1"/>
          <p:nvPr/>
        </p:nvSpPr>
        <p:spPr>
          <a:xfrm>
            <a:off x="6720840" y="2194560"/>
            <a:ext cx="2194560" cy="274320"/>
          </a:xfrm>
          <a:prstGeom prst="rect">
            <a:avLst/>
          </a:prstGeom>
          <a:noFill/>
          <a:ln/>
        </p:spPr>
        <p:txBody>
          <a:bodyPr wrap="square" lIns="0" tIns="0" rIns="0" bIns="0" rtlCol="0" anchor="t"/>
          <a:lstStyle/>
          <a:p>
            <a:pPr algn="l" indent="0" marL="0">
              <a:buNone/>
            </a:pPr>
            <a:r>
              <a:rPr lang="en-US" sz="1500" b="1" dirty="0">
                <a:solidFill>
                  <a:srgbClr val="0B1F3A"/>
                </a:solidFill>
                <a:latin typeface="Calibri" pitchFamily="34" charset="0"/>
                <a:ea typeface="Calibri" pitchFamily="34" charset="-122"/>
                <a:cs typeface="Calibri" pitchFamily="34" charset="-120"/>
              </a:rPr>
              <a:t>Structured Store</a:t>
            </a:r>
            <a:endParaRPr lang="en-US" sz="1500" dirty="0"/>
          </a:p>
        </p:txBody>
      </p:sp>
      <p:sp>
        <p:nvSpPr>
          <p:cNvPr id="15" name="Text 13"/>
          <p:cNvSpPr txBox="1"/>
          <p:nvPr/>
        </p:nvSpPr>
        <p:spPr>
          <a:xfrm>
            <a:off x="6720840" y="2560320"/>
            <a:ext cx="2194560" cy="1920240"/>
          </a:xfrm>
          <a:prstGeom prst="rect">
            <a:avLst/>
          </a:prstGeom>
          <a:noFill/>
          <a:ln/>
        </p:spPr>
        <p:txBody>
          <a:bodyPr wrap="square" lIns="0" tIns="0" rIns="0" bIns="0" rtlCol="0" anchor="t"/>
          <a:lstStyle/>
          <a:p>
            <a:pPr algn="l" marL="342900" indent="-342900">
              <a:spcAft>
                <a:spcPts val="300"/>
              </a:spcAft>
              <a:buSzPct val="100000"/>
              <a:buChar char="•"/>
            </a:pPr>
            <a:r>
              <a:rPr lang="en-US" sz="1350" dirty="0">
                <a:solidFill>
                  <a:srgbClr val="1F2937"/>
                </a:solidFill>
                <a:latin typeface="Calibri" pitchFamily="34" charset="0"/>
                <a:ea typeface="Calibri" pitchFamily="34" charset="-122"/>
                <a:cs typeface="Calibri" pitchFamily="34" charset="-120"/>
              </a:rPr>
              <a:t>Exact question IDs</a:t>
            </a:r>
            <a:endParaRPr lang="en-US" sz="1350" dirty="0"/>
          </a:p>
          <a:p>
            <a:pPr algn="l" marL="342900" indent="-342900">
              <a:spcAft>
                <a:spcPts val="300"/>
              </a:spcAft>
              <a:buSzPct val="100000"/>
              <a:buChar char="•"/>
            </a:pPr>
            <a:r>
              <a:rPr lang="en-US" sz="1350" dirty="0">
                <a:solidFill>
                  <a:srgbClr val="1F2937"/>
                </a:solidFill>
                <a:latin typeface="Calibri" pitchFamily="34" charset="0"/>
                <a:ea typeface="Calibri" pitchFamily="34" charset="-122"/>
                <a:cs typeface="Calibri" pitchFamily="34" charset="-120"/>
              </a:rPr>
              <a:t>Question text</a:t>
            </a:r>
            <a:endParaRPr lang="en-US" sz="1350" dirty="0"/>
          </a:p>
          <a:p>
            <a:pPr algn="l" marL="342900" indent="-342900">
              <a:spcAft>
                <a:spcPts val="300"/>
              </a:spcAft>
              <a:buSzPct val="100000"/>
              <a:buChar char="•"/>
            </a:pPr>
            <a:r>
              <a:rPr lang="en-US" sz="1350" dirty="0">
                <a:solidFill>
                  <a:srgbClr val="1F2937"/>
                </a:solidFill>
                <a:latin typeface="Calibri" pitchFamily="34" charset="0"/>
                <a:ea typeface="Calibri" pitchFamily="34" charset="-122"/>
                <a:cs typeface="Calibri" pitchFamily="34" charset="-120"/>
              </a:rPr>
              <a:t>Maximum marks</a:t>
            </a:r>
            <a:endParaRPr lang="en-US" sz="1350" dirty="0"/>
          </a:p>
          <a:p>
            <a:pPr algn="l" marL="342900" indent="-342900">
              <a:spcAft>
                <a:spcPts val="300"/>
              </a:spcAft>
              <a:buSzPct val="100000"/>
              <a:buChar char="•"/>
            </a:pPr>
            <a:r>
              <a:rPr lang="en-US" sz="1350" dirty="0">
                <a:solidFill>
                  <a:srgbClr val="1F2937"/>
                </a:solidFill>
                <a:latin typeface="Calibri" pitchFamily="34" charset="0"/>
                <a:ea typeface="Calibri" pitchFamily="34" charset="-122"/>
                <a:cs typeface="Calibri" pitchFamily="34" charset="-120"/>
              </a:rPr>
              <a:t>Model answers</a:t>
            </a:r>
            <a:endParaRPr lang="en-US" sz="1350" dirty="0"/>
          </a:p>
          <a:p>
            <a:pPr algn="l" marL="342900" indent="-342900">
              <a:spcAft>
                <a:spcPts val="300"/>
              </a:spcAft>
              <a:buSzPct val="100000"/>
              <a:buChar char="•"/>
            </a:pPr>
            <a:r>
              <a:rPr lang="en-US" sz="1350" dirty="0">
                <a:solidFill>
                  <a:srgbClr val="1F2937"/>
                </a:solidFill>
                <a:latin typeface="Calibri" pitchFamily="34" charset="0"/>
                <a:ea typeface="Calibri" pitchFamily="34" charset="-122"/>
                <a:cs typeface="Calibri" pitchFamily="34" charset="-120"/>
              </a:rPr>
              <a:t>Rubrics</a:t>
            </a:r>
            <a:endParaRPr lang="en-US" sz="1350" dirty="0"/>
          </a:p>
        </p:txBody>
      </p:sp>
      <p:sp>
        <p:nvSpPr>
          <p:cNvPr id="16" name="Box: "/>
          <p:cNvSpPr/>
          <p:nvPr/>
        </p:nvSpPr>
        <p:spPr>
          <a:xfrm>
            <a:off x="9144000" y="2103120"/>
            <a:ext cx="2468880" cy="2423160"/>
          </a:xfrm>
          <a:prstGeom prst="rect">
            <a:avLst>
              <a:gd name="adj" fmla="val 3019"/>
            </a:avLst>
          </a:prstGeom>
          <a:solidFill>
            <a:srgbClr val="FFFFFF"/>
          </a:solidFill>
          <a:ln w="12700">
            <a:solidFill>
              <a:srgbClr val="6D5BD0"/>
            </a:solidFill>
          </a:ln>
        </p:spPr>
        <p:txBody>
          <a:bodyPr wrap="square" lIns="76200" tIns="76200" rIns="76200" bIns="76200" rtlCol="0" anchor="ctr"/>
          <a:lstStyle/>
          <a:p>
            <a:pPr algn="ctr" indent="0" marL="0">
              <a:buNone/>
            </a:pPr>
            <a:endParaRPr lang="en-US" sz="1300" dirty="0"/>
          </a:p>
        </p:txBody>
      </p:sp>
      <p:sp>
        <p:nvSpPr>
          <p:cNvPr id="17" name="Text 15"/>
          <p:cNvSpPr txBox="1"/>
          <p:nvPr/>
        </p:nvSpPr>
        <p:spPr>
          <a:xfrm>
            <a:off x="9281160" y="2194560"/>
            <a:ext cx="2194560" cy="274320"/>
          </a:xfrm>
          <a:prstGeom prst="rect">
            <a:avLst/>
          </a:prstGeom>
          <a:noFill/>
          <a:ln/>
        </p:spPr>
        <p:txBody>
          <a:bodyPr wrap="square" lIns="0" tIns="0" rIns="0" bIns="0" rtlCol="0" anchor="t"/>
          <a:lstStyle/>
          <a:p>
            <a:pPr algn="l" indent="0" marL="0">
              <a:buNone/>
            </a:pPr>
            <a:r>
              <a:rPr lang="en-US" sz="1500" b="1" dirty="0">
                <a:solidFill>
                  <a:srgbClr val="6D5BD0"/>
                </a:solidFill>
                <a:latin typeface="Calibri" pitchFamily="34" charset="0"/>
                <a:ea typeface="Calibri" pitchFamily="34" charset="-122"/>
                <a:cs typeface="Calibri" pitchFamily="34" charset="-120"/>
              </a:rPr>
              <a:t>ChromaDB</a:t>
            </a:r>
            <a:endParaRPr lang="en-US" sz="1500" dirty="0"/>
          </a:p>
        </p:txBody>
      </p:sp>
      <p:sp>
        <p:nvSpPr>
          <p:cNvPr id="18" name="Text 16"/>
          <p:cNvSpPr txBox="1"/>
          <p:nvPr/>
        </p:nvSpPr>
        <p:spPr>
          <a:xfrm>
            <a:off x="9281160" y="2560320"/>
            <a:ext cx="2194560" cy="1920240"/>
          </a:xfrm>
          <a:prstGeom prst="rect">
            <a:avLst/>
          </a:prstGeom>
          <a:noFill/>
          <a:ln/>
        </p:spPr>
        <p:txBody>
          <a:bodyPr wrap="square" lIns="0" tIns="0" rIns="0" bIns="0" rtlCol="0" anchor="t"/>
          <a:lstStyle/>
          <a:p>
            <a:pPr algn="l" marL="342900" indent="-342900">
              <a:spcAft>
                <a:spcPts val="300"/>
              </a:spcAft>
              <a:buSzPct val="100000"/>
              <a:buChar char="•"/>
            </a:pPr>
            <a:r>
              <a:rPr lang="en-US" sz="1350" dirty="0">
                <a:solidFill>
                  <a:srgbClr val="1F2937"/>
                </a:solidFill>
                <a:latin typeface="Calibri" pitchFamily="34" charset="0"/>
                <a:ea typeface="Calibri" pitchFamily="34" charset="-122"/>
                <a:cs typeface="Calibri" pitchFamily="34" charset="-120"/>
              </a:rPr>
              <a:t>Semantic chunks</a:t>
            </a:r>
            <a:endParaRPr lang="en-US" sz="1350" dirty="0"/>
          </a:p>
          <a:p>
            <a:pPr algn="l" marL="342900" indent="-342900">
              <a:spcAft>
                <a:spcPts val="300"/>
              </a:spcAft>
              <a:buSzPct val="100000"/>
              <a:buChar char="•"/>
            </a:pPr>
            <a:r>
              <a:rPr lang="en-US" sz="1350" dirty="0">
                <a:solidFill>
                  <a:srgbClr val="1F2937"/>
                </a:solidFill>
                <a:latin typeface="Calibri" pitchFamily="34" charset="0"/>
                <a:ea typeface="Calibri" pitchFamily="34" charset="-122"/>
                <a:cs typeface="Calibri" pitchFamily="34" charset="-120"/>
              </a:rPr>
              <a:t>Embeddings</a:t>
            </a:r>
            <a:endParaRPr lang="en-US" sz="1350" dirty="0"/>
          </a:p>
          <a:p>
            <a:pPr algn="l" marL="342900" indent="-342900">
              <a:spcAft>
                <a:spcPts val="300"/>
              </a:spcAft>
              <a:buSzPct val="100000"/>
              <a:buChar char="•"/>
            </a:pPr>
            <a:r>
              <a:rPr lang="en-US" sz="1350" dirty="0">
                <a:solidFill>
                  <a:srgbClr val="1F2937"/>
                </a:solidFill>
                <a:latin typeface="Calibri" pitchFamily="34" charset="0"/>
                <a:ea typeface="Calibri" pitchFamily="34" charset="-122"/>
                <a:cs typeface="Calibri" pitchFamily="34" charset="-120"/>
              </a:rPr>
              <a:t>Retrieval metadata</a:t>
            </a:r>
            <a:endParaRPr lang="en-US" sz="1350" dirty="0"/>
          </a:p>
        </p:txBody>
      </p:sp>
      <p:sp>
        <p:nvSpPr>
          <p:cNvPr id="19" name="Box: Structured records are the sou"/>
          <p:cNvSpPr/>
          <p:nvPr/>
        </p:nvSpPr>
        <p:spPr>
          <a:xfrm>
            <a:off x="548640" y="4709160"/>
            <a:ext cx="11064240" cy="548640"/>
          </a:xfrm>
          <a:prstGeom prst="roundRect">
            <a:avLst>
              <a:gd name="adj" fmla="val 13333"/>
            </a:avLst>
          </a:prstGeom>
          <a:solidFill>
            <a:srgbClr val="0B1F3A"/>
          </a:solidFill>
          <a:ln w="12700">
            <a:solidFill>
              <a:srgbClr val="0B1F3A"/>
            </a:solidFill>
          </a:ln>
        </p:spPr>
        <p:txBody>
          <a:bodyPr wrap="square" lIns="76200" tIns="76200" rIns="76200" bIns="76200" rtlCol="0" anchor="ctr"/>
          <a:lstStyle/>
          <a:p>
            <a:pPr algn="ctr" indent="0" marL="0">
              <a:buNone/>
            </a:pPr>
            <a:r>
              <a:rPr lang="en-US" sz="1500" b="1" i="1" dirty="0">
                <a:solidFill>
                  <a:srgbClr val="FFFFFF"/>
                </a:solidFill>
                <a:latin typeface="Calibri" pitchFamily="34" charset="0"/>
                <a:ea typeface="Calibri" pitchFamily="34" charset="-122"/>
                <a:cs typeface="Calibri" pitchFamily="34" charset="-120"/>
              </a:rPr>
              <a:t>Structured records are the source of truth for exact exam data; ChromaDB supports semantic retrieval.</a:t>
            </a:r>
            <a:endParaRPr lang="en-US" sz="1500" dirty="0"/>
          </a:p>
        </p:txBody>
      </p:sp>
      <p:sp>
        <p:nvSpPr>
          <p:cNvPr id="20" name="Text 18"/>
          <p:cNvSpPr/>
          <p:nvPr/>
        </p:nvSpPr>
        <p:spPr>
          <a:xfrm>
            <a:off x="548640" y="5394960"/>
            <a:ext cx="11064240" cy="868680"/>
          </a:xfrm>
          <a:prstGeom prst="roundRect">
            <a:avLst>
              <a:gd name="adj" fmla="val 8421"/>
            </a:avLst>
          </a:prstGeom>
          <a:solidFill>
            <a:srgbClr val="FFF4D6"/>
          </a:solidFill>
          <a:ln w="12700">
            <a:solidFill>
              <a:srgbClr val="E0A100"/>
            </a:solidFill>
          </a:ln>
        </p:spPr>
        <p:txBody>
          <a:bodyPr wrap="square" lIns="152400" tIns="152400" rIns="152400" bIns="152400" rtlCol="0" anchor="ctr"/>
          <a:lstStyle/>
          <a:p>
            <a:pPr algn="l" indent="0" marL="0">
              <a:buNone/>
            </a:pPr>
            <a:r>
              <a:rPr lang="en-US" sz="1350" b="1" dirty="0">
                <a:solidFill>
                  <a:srgbClr val="8A6500"/>
                </a:solidFill>
                <a:latin typeface="Calibri" pitchFamily="34" charset="0"/>
                <a:ea typeface="Calibri" pitchFamily="34" charset="-122"/>
                <a:cs typeface="Calibri" pitchFamily="34" charset="-120"/>
              </a:rPr>
              <a:t>Status: </a:t>
            </a:r>
            <a:pPr algn="l" indent="0" marL="0">
              <a:buNone/>
            </a:pPr>
            <a:r>
              <a:rPr lang="en-US" sz="1350" dirty="0">
                <a:solidFill>
                  <a:srgbClr val="1F2937"/>
                </a:solidFill>
                <a:latin typeface="Calibri" pitchFamily="34" charset="0"/>
                <a:ea typeface="Calibri" pitchFamily="34" charset="-122"/>
                <a:cs typeface="Calibri" pitchFamily="34" charset="-120"/>
              </a:rPr>
              <a:t>The audit reported successful ingestion-related tests. Physical file persistence, restart behavior, and re-ingestion consistency still require verification.</a:t>
            </a:r>
            <a:endParaRPr lang="en-US" sz="135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rgbClr val="0B1F3A"/>
                </a:solidFill>
                <a:latin typeface="Calibri" pitchFamily="34" charset="0"/>
                <a:ea typeface="Calibri" pitchFamily="34" charset="-122"/>
                <a:cs typeface="Calibri" pitchFamily="34" charset="-120"/>
              </a:rPr>
              <a:t>Phase 3 — Student Answer Mapping</a:t>
            </a:r>
            <a:endParaRPr lang="en-US" sz="2800" dirty="0"/>
          </a:p>
        </p:txBody>
      </p:sp>
      <p:sp>
        <p:nvSpPr>
          <p:cNvPr id="3" name="Shape 1"/>
          <p:cNvSpPr/>
          <p:nvPr/>
        </p:nvSpPr>
        <p:spPr>
          <a:xfrm>
            <a:off x="6172200" y="6510528"/>
            <a:ext cx="128016" cy="128016"/>
          </a:xfrm>
          <a:prstGeom prst="ellipse">
            <a:avLst/>
          </a:prstGeom>
          <a:solidFill>
            <a:srgbClr val="2E9E5B"/>
          </a:solidFill>
          <a:ln/>
        </p:spPr>
      </p:sp>
      <p:sp>
        <p:nvSpPr>
          <p:cNvPr id="4" name="Text 2"/>
          <p:cNvSpPr txBox="1"/>
          <p:nvPr/>
        </p:nvSpPr>
        <p:spPr>
          <a:xfrm>
            <a:off x="6373368" y="6446520"/>
            <a:ext cx="8229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Reported</a:t>
            </a:r>
            <a:endParaRPr lang="en-US" sz="1100" dirty="0"/>
          </a:p>
        </p:txBody>
      </p:sp>
      <p:sp>
        <p:nvSpPr>
          <p:cNvPr id="5" name="Shape 3"/>
          <p:cNvSpPr/>
          <p:nvPr/>
        </p:nvSpPr>
        <p:spPr>
          <a:xfrm>
            <a:off x="7315200" y="6510528"/>
            <a:ext cx="128016" cy="128016"/>
          </a:xfrm>
          <a:prstGeom prst="ellipse">
            <a:avLst/>
          </a:prstGeom>
          <a:solidFill>
            <a:srgbClr val="E0A100"/>
          </a:solidFill>
          <a:ln/>
        </p:spPr>
      </p:sp>
      <p:sp>
        <p:nvSpPr>
          <p:cNvPr id="6" name="Text 4"/>
          <p:cNvSpPr txBox="1"/>
          <p:nvPr/>
        </p:nvSpPr>
        <p:spPr>
          <a:xfrm>
            <a:off x="7516368" y="6446520"/>
            <a:ext cx="146304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Pending verification</a:t>
            </a:r>
            <a:endParaRPr lang="en-US" sz="1100" dirty="0"/>
          </a:p>
        </p:txBody>
      </p:sp>
      <p:sp>
        <p:nvSpPr>
          <p:cNvPr id="7" name="Shape 5"/>
          <p:cNvSpPr/>
          <p:nvPr/>
        </p:nvSpPr>
        <p:spPr>
          <a:xfrm>
            <a:off x="9235440" y="6492240"/>
            <a:ext cx="274320" cy="164592"/>
          </a:xfrm>
          <a:prstGeom prst="roundRect">
            <a:avLst/>
          </a:prstGeom>
          <a:solidFill>
            <a:srgbClr val="FFFFFF"/>
          </a:solidFill>
          <a:ln w="15875">
            <a:solidFill>
              <a:srgbClr val="6D5BD0"/>
            </a:solidFill>
            <a:prstDash val="dash"/>
          </a:ln>
        </p:spPr>
      </p:sp>
      <p:sp>
        <p:nvSpPr>
          <p:cNvPr id="8" name="Text 6"/>
          <p:cNvSpPr txBox="1"/>
          <p:nvPr/>
        </p:nvSpPr>
        <p:spPr>
          <a:xfrm>
            <a:off x="9601200" y="6446520"/>
            <a:ext cx="17373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Planned / not confirmed</a:t>
            </a:r>
            <a:endParaRPr lang="en-US" sz="1100" dirty="0"/>
          </a:p>
        </p:txBody>
      </p:sp>
      <p:sp>
        <p:nvSpPr>
          <p:cNvPr id="9" name="Box: PLANNED / COMPLETION NOT CONFI"/>
          <p:cNvSpPr/>
          <p:nvPr/>
        </p:nvSpPr>
        <p:spPr>
          <a:xfrm>
            <a:off x="548640" y="1051560"/>
            <a:ext cx="3566160" cy="329184"/>
          </a:xfrm>
          <a:prstGeom prst="roundRect">
            <a:avLst>
              <a:gd name="adj" fmla="val 22222"/>
            </a:avLst>
          </a:prstGeom>
          <a:solidFill>
            <a:srgbClr val="ECE9FA"/>
          </a:solidFill>
          <a:ln w="19050">
            <a:solidFill>
              <a:srgbClr val="6D5BD0"/>
            </a:solidFill>
            <a:prstDash val="dash"/>
          </a:ln>
        </p:spPr>
        <p:txBody>
          <a:bodyPr wrap="square" lIns="25400" tIns="25400" rIns="25400" bIns="25400" rtlCol="0" anchor="ctr"/>
          <a:lstStyle/>
          <a:p>
            <a:pPr algn="ctr" indent="0" marL="0">
              <a:buNone/>
            </a:pPr>
            <a:r>
              <a:rPr lang="en-US" sz="1200" b="1" dirty="0">
                <a:solidFill>
                  <a:srgbClr val="6D5BD0"/>
                </a:solidFill>
                <a:latin typeface="Calibri" pitchFamily="34" charset="0"/>
                <a:ea typeface="Calibri" pitchFamily="34" charset="-122"/>
                <a:cs typeface="Calibri" pitchFamily="34" charset="-120"/>
              </a:rPr>
              <a:t>PLANNED / COMPLETION NOT CONFIRMED</a:t>
            </a:r>
            <a:endParaRPr lang="en-US" sz="1200" dirty="0"/>
          </a:p>
        </p:txBody>
      </p:sp>
      <p:sp>
        <p:nvSpPr>
          <p:cNvPr id="10" name="Box: Student Upload"/>
          <p:cNvSpPr/>
          <p:nvPr/>
        </p:nvSpPr>
        <p:spPr>
          <a:xfrm>
            <a:off x="548640" y="1554480"/>
            <a:ext cx="1417320" cy="777240"/>
          </a:xfrm>
          <a:prstGeom prst="roundRect">
            <a:avLst>
              <a:gd name="adj" fmla="val 9412"/>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Student Upload</a:t>
            </a:r>
            <a:endParaRPr lang="en-US" sz="1200" dirty="0"/>
          </a:p>
        </p:txBody>
      </p:sp>
      <p:sp>
        <p:nvSpPr>
          <p:cNvPr id="11" name="Arrow"/>
          <p:cNvSpPr/>
          <p:nvPr/>
        </p:nvSpPr>
        <p:spPr>
          <a:xfrm>
            <a:off x="1993392" y="1943100"/>
            <a:ext cx="128016" cy="0"/>
          </a:xfrm>
          <a:prstGeom prst="line">
            <a:avLst/>
          </a:prstGeom>
          <a:noFill/>
          <a:ln w="22225">
            <a:solidFill>
              <a:srgbClr val="5B6577"/>
            </a:solidFill>
            <a:prstDash val="dash"/>
            <a:tailEnd type="triangle"/>
          </a:ln>
        </p:spPr>
      </p:sp>
      <p:sp>
        <p:nvSpPr>
          <p:cNvPr id="12" name="Box: OCR"/>
          <p:cNvSpPr/>
          <p:nvPr/>
        </p:nvSpPr>
        <p:spPr>
          <a:xfrm>
            <a:off x="2148840" y="1554480"/>
            <a:ext cx="1417320" cy="777240"/>
          </a:xfrm>
          <a:prstGeom prst="roundRect">
            <a:avLst>
              <a:gd name="adj" fmla="val 9412"/>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OCR</a:t>
            </a:r>
            <a:endParaRPr lang="en-US" sz="1200" dirty="0"/>
          </a:p>
        </p:txBody>
      </p:sp>
      <p:sp>
        <p:nvSpPr>
          <p:cNvPr id="13" name="Arrow"/>
          <p:cNvSpPr/>
          <p:nvPr/>
        </p:nvSpPr>
        <p:spPr>
          <a:xfrm>
            <a:off x="3593592" y="1943100"/>
            <a:ext cx="128016" cy="0"/>
          </a:xfrm>
          <a:prstGeom prst="line">
            <a:avLst/>
          </a:prstGeom>
          <a:noFill/>
          <a:ln w="22225">
            <a:solidFill>
              <a:srgbClr val="5B6577"/>
            </a:solidFill>
            <a:prstDash val="dash"/>
            <a:tailEnd type="triangle"/>
          </a:ln>
        </p:spPr>
      </p:sp>
      <p:sp>
        <p:nvSpPr>
          <p:cNvPr id="14" name="Box: Extracted Text"/>
          <p:cNvSpPr/>
          <p:nvPr/>
        </p:nvSpPr>
        <p:spPr>
          <a:xfrm>
            <a:off x="3749040" y="1554480"/>
            <a:ext cx="1417320" cy="777240"/>
          </a:xfrm>
          <a:prstGeom prst="roundRect">
            <a:avLst>
              <a:gd name="adj" fmla="val 9412"/>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Extracted Text</a:t>
            </a:r>
            <a:endParaRPr lang="en-US" sz="1200" dirty="0"/>
          </a:p>
        </p:txBody>
      </p:sp>
      <p:sp>
        <p:nvSpPr>
          <p:cNvPr id="15" name="Arrow"/>
          <p:cNvSpPr/>
          <p:nvPr/>
        </p:nvSpPr>
        <p:spPr>
          <a:xfrm>
            <a:off x="5193792" y="1943100"/>
            <a:ext cx="128016" cy="0"/>
          </a:xfrm>
          <a:prstGeom prst="line">
            <a:avLst/>
          </a:prstGeom>
          <a:noFill/>
          <a:ln w="22225">
            <a:solidFill>
              <a:srgbClr val="5B6577"/>
            </a:solidFill>
            <a:prstDash val="dash"/>
            <a:tailEnd type="triangle"/>
          </a:ln>
        </p:spPr>
      </p:sp>
      <p:sp>
        <p:nvSpPr>
          <p:cNvPr id="16" name="Box: Question Detection"/>
          <p:cNvSpPr/>
          <p:nvPr/>
        </p:nvSpPr>
        <p:spPr>
          <a:xfrm>
            <a:off x="5349240" y="1554480"/>
            <a:ext cx="1417320" cy="777240"/>
          </a:xfrm>
          <a:prstGeom prst="roundRect">
            <a:avLst>
              <a:gd name="adj" fmla="val 9412"/>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Question Detection</a:t>
            </a:r>
            <a:endParaRPr lang="en-US" sz="1200" dirty="0"/>
          </a:p>
        </p:txBody>
      </p:sp>
      <p:sp>
        <p:nvSpPr>
          <p:cNvPr id="17" name="Arrow"/>
          <p:cNvSpPr/>
          <p:nvPr/>
        </p:nvSpPr>
        <p:spPr>
          <a:xfrm>
            <a:off x="6793992" y="1943100"/>
            <a:ext cx="128016" cy="0"/>
          </a:xfrm>
          <a:prstGeom prst="line">
            <a:avLst/>
          </a:prstGeom>
          <a:noFill/>
          <a:ln w="22225">
            <a:solidFill>
              <a:srgbClr val="5B6577"/>
            </a:solidFill>
            <a:prstDash val="dash"/>
            <a:tailEnd type="triangle"/>
          </a:ln>
        </p:spPr>
      </p:sp>
      <p:sp>
        <p:nvSpPr>
          <p:cNvPr id="18" name="Box: Answer Segmentation"/>
          <p:cNvSpPr/>
          <p:nvPr/>
        </p:nvSpPr>
        <p:spPr>
          <a:xfrm>
            <a:off x="6949440" y="1554480"/>
            <a:ext cx="1417320" cy="777240"/>
          </a:xfrm>
          <a:prstGeom prst="roundRect">
            <a:avLst>
              <a:gd name="adj" fmla="val 9412"/>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Answer Segmentation</a:t>
            </a:r>
            <a:endParaRPr lang="en-US" sz="1200" dirty="0"/>
          </a:p>
        </p:txBody>
      </p:sp>
      <p:sp>
        <p:nvSpPr>
          <p:cNvPr id="19" name="Arrow"/>
          <p:cNvSpPr/>
          <p:nvPr/>
        </p:nvSpPr>
        <p:spPr>
          <a:xfrm>
            <a:off x="8394192" y="1943100"/>
            <a:ext cx="128016" cy="0"/>
          </a:xfrm>
          <a:prstGeom prst="line">
            <a:avLst/>
          </a:prstGeom>
          <a:noFill/>
          <a:ln w="22225">
            <a:solidFill>
              <a:srgbClr val="5B6577"/>
            </a:solidFill>
            <a:prstDash val="dash"/>
            <a:tailEnd type="triangle"/>
          </a:ln>
        </p:spPr>
      </p:sp>
      <p:sp>
        <p:nvSpPr>
          <p:cNvPr id="20" name="Box: Match Against Teacher Question"/>
          <p:cNvSpPr/>
          <p:nvPr/>
        </p:nvSpPr>
        <p:spPr>
          <a:xfrm>
            <a:off x="8549640" y="1554480"/>
            <a:ext cx="1417320" cy="777240"/>
          </a:xfrm>
          <a:prstGeom prst="roundRect">
            <a:avLst>
              <a:gd name="adj" fmla="val 9412"/>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Match Against Teacher Question IDs</a:t>
            </a:r>
            <a:endParaRPr lang="en-US" sz="1200" dirty="0"/>
          </a:p>
        </p:txBody>
      </p:sp>
      <p:sp>
        <p:nvSpPr>
          <p:cNvPr id="21" name="Arrow"/>
          <p:cNvSpPr/>
          <p:nvPr/>
        </p:nvSpPr>
        <p:spPr>
          <a:xfrm>
            <a:off x="9994392" y="1943100"/>
            <a:ext cx="128016" cy="0"/>
          </a:xfrm>
          <a:prstGeom prst="line">
            <a:avLst/>
          </a:prstGeom>
          <a:noFill/>
          <a:ln w="22225">
            <a:solidFill>
              <a:srgbClr val="5B6577"/>
            </a:solidFill>
            <a:prstDash val="dash"/>
            <a:tailEnd type="triangle"/>
          </a:ln>
        </p:spPr>
      </p:sp>
      <p:sp>
        <p:nvSpPr>
          <p:cNvPr id="22" name="Box: Student Answer Records"/>
          <p:cNvSpPr/>
          <p:nvPr/>
        </p:nvSpPr>
        <p:spPr>
          <a:xfrm>
            <a:off x="10149840" y="1554480"/>
            <a:ext cx="1417320" cy="777240"/>
          </a:xfrm>
          <a:prstGeom prst="roundRect">
            <a:avLst>
              <a:gd name="adj" fmla="val 9412"/>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Student Answer Records</a:t>
            </a:r>
            <a:endParaRPr lang="en-US" sz="1200" dirty="0"/>
          </a:p>
        </p:txBody>
      </p:sp>
      <p:sp>
        <p:nvSpPr>
          <p:cNvPr id="23" name="Text 21"/>
          <p:cNvSpPr txBox="1"/>
          <p:nvPr/>
        </p:nvSpPr>
        <p:spPr>
          <a:xfrm>
            <a:off x="548640" y="2560320"/>
            <a:ext cx="5669280" cy="2926080"/>
          </a:xfrm>
          <a:prstGeom prst="rect">
            <a:avLst/>
          </a:prstGeom>
          <a:noFill/>
          <a:ln/>
        </p:spPr>
        <p:txBody>
          <a:bodyPr wrap="square" lIns="0" tIns="0" rIns="0" bIns="0" rtlCol="0" anchor="t"/>
          <a:lstStyle/>
          <a:p>
            <a:pPr indent="0" marL="0">
              <a:spcAft>
                <a:spcPts val="200"/>
              </a:spcAft>
              <a:buNone/>
            </a:pPr>
            <a:r>
              <a:rPr lang="en-US" sz="1750" b="1" dirty="0">
                <a:solidFill>
                  <a:srgbClr val="0B1F3A"/>
                </a:solidFill>
                <a:latin typeface="Calibri" pitchFamily="34" charset="0"/>
                <a:ea typeface="Calibri" pitchFamily="34" charset="-122"/>
                <a:cs typeface="Calibri" pitchFamily="34" charset="-120"/>
              </a:rPr>
              <a:t>What this phase does</a:t>
            </a:r>
            <a:endParaRPr lang="en-US" sz="1550" dirty="0"/>
          </a:p>
          <a:p>
            <a:pPr marL="342900" indent="-342900">
              <a:spcAft>
                <a:spcPts val="300"/>
              </a:spcAft>
              <a:buSzPct val="100000"/>
              <a:buChar char="•"/>
            </a:pPr>
            <a:r>
              <a:rPr lang="en-US" sz="1550" dirty="0">
                <a:solidFill>
                  <a:srgbClr val="1F2937"/>
                </a:solidFill>
                <a:latin typeface="Calibri" pitchFamily="34" charset="0"/>
                <a:ea typeface="Calibri" pitchFamily="34" charset="-122"/>
                <a:cs typeface="Calibri" pitchFamily="34" charset="-120"/>
              </a:rPr>
              <a:t>Splits the OCR text into question-wise answers by detecting question numbers.</a:t>
            </a:r>
            <a:endParaRPr lang="en-US" sz="1550" dirty="0"/>
          </a:p>
          <a:p>
            <a:pPr marL="342900" indent="-342900">
              <a:spcAft>
                <a:spcPts val="300"/>
              </a:spcAft>
              <a:buSzPct val="100000"/>
              <a:buChar char="•"/>
            </a:pPr>
            <a:r>
              <a:rPr lang="en-US" sz="1550" dirty="0">
                <a:solidFill>
                  <a:srgbClr val="1F2937"/>
                </a:solidFill>
                <a:latin typeface="Calibri" pitchFamily="34" charset="0"/>
                <a:ea typeface="Calibri" pitchFamily="34" charset="-122"/>
                <a:cs typeface="Calibri" pitchFamily="34" charset="-120"/>
              </a:rPr>
              <a:t>Matches each answer to a teacher question ID from the structured store.</a:t>
            </a:r>
            <a:endParaRPr lang="en-US" sz="1550" dirty="0"/>
          </a:p>
          <a:p>
            <a:pPr indent="0" marL="0">
              <a:spcBef>
                <a:spcPts val="800"/>
              </a:spcBef>
              <a:spcAft>
                <a:spcPts val="200"/>
              </a:spcAft>
              <a:buNone/>
            </a:pPr>
            <a:r>
              <a:rPr lang="en-US" sz="1750" b="1" dirty="0">
                <a:solidFill>
                  <a:srgbClr val="0B6F6D"/>
                </a:solidFill>
                <a:latin typeface="Calibri" pitchFamily="34" charset="0"/>
                <a:ea typeface="Calibri" pitchFamily="34" charset="-122"/>
                <a:cs typeface="Calibri" pitchFamily="34" charset="-120"/>
              </a:rPr>
              <a:t>Two possible outcomes</a:t>
            </a:r>
            <a:endParaRPr lang="en-US" sz="1550" dirty="0"/>
          </a:p>
          <a:p>
            <a:pPr marL="342900" indent="-342900">
              <a:spcAft>
                <a:spcPts val="300"/>
              </a:spcAft>
              <a:buSzPct val="100000"/>
              <a:buChar char="•"/>
            </a:pPr>
            <a:r>
              <a:rPr lang="en-US" sz="1550" dirty="0">
                <a:solidFill>
                  <a:srgbClr val="1F2937"/>
                </a:solidFill>
                <a:latin typeface="Calibri" pitchFamily="34" charset="0"/>
                <a:ea typeface="Calibri" pitchFamily="34" charset="-122"/>
                <a:cs typeface="Calibri" pitchFamily="34" charset="-120"/>
              </a:rPr>
              <a:t>Confident match: answer linked to its question, with text and page references kept.</a:t>
            </a:r>
            <a:endParaRPr lang="en-US" sz="1550" dirty="0"/>
          </a:p>
          <a:p>
            <a:pPr marL="342900" indent="-342900">
              <a:spcAft>
                <a:spcPts val="300"/>
              </a:spcAft>
              <a:buSzPct val="100000"/>
              <a:buChar char="•"/>
            </a:pPr>
            <a:r>
              <a:rPr lang="en-US" sz="1550" dirty="0">
                <a:solidFill>
                  <a:srgbClr val="1F2937"/>
                </a:solidFill>
                <a:latin typeface="Calibri" pitchFamily="34" charset="0"/>
                <a:ea typeface="Calibri" pitchFamily="34" charset="-122"/>
                <a:cs typeface="Calibri" pitchFamily="34" charset="-120"/>
              </a:rPr>
              <a:t>Ambiguous or missing match: text retained and flagged for review, never discarded or misassigned.</a:t>
            </a:r>
            <a:endParaRPr lang="en-US" sz="1550" dirty="0"/>
          </a:p>
        </p:txBody>
      </p:sp>
      <p:sp>
        <p:nvSpPr>
          <p:cNvPr id="24" name="Box: "/>
          <p:cNvSpPr/>
          <p:nvPr/>
        </p:nvSpPr>
        <p:spPr>
          <a:xfrm>
            <a:off x="6492240" y="2560320"/>
            <a:ext cx="5120640" cy="2926080"/>
          </a:xfrm>
          <a:prstGeom prst="rect">
            <a:avLst>
              <a:gd name="adj" fmla="val 2500"/>
            </a:avLst>
          </a:prstGeom>
          <a:solidFill>
            <a:srgbClr val="FFFFFF"/>
          </a:solidFill>
          <a:ln w="12700">
            <a:solidFill>
              <a:srgbClr val="CBD2DC"/>
            </a:solidFill>
          </a:ln>
        </p:spPr>
        <p:txBody>
          <a:bodyPr wrap="square" lIns="76200" tIns="76200" rIns="76200" bIns="76200" rtlCol="0" anchor="ctr"/>
          <a:lstStyle/>
          <a:p>
            <a:pPr algn="ctr" indent="0" marL="0">
              <a:buNone/>
            </a:pPr>
            <a:endParaRPr lang="en-US" sz="1300" dirty="0"/>
          </a:p>
        </p:txBody>
      </p:sp>
      <p:sp>
        <p:nvSpPr>
          <p:cNvPr id="25" name="Text 23"/>
          <p:cNvSpPr txBox="1"/>
          <p:nvPr/>
        </p:nvSpPr>
        <p:spPr>
          <a:xfrm>
            <a:off x="6675120" y="2651760"/>
            <a:ext cx="4572000" cy="274320"/>
          </a:xfrm>
          <a:prstGeom prst="rect">
            <a:avLst/>
          </a:prstGeom>
          <a:noFill/>
          <a:ln/>
        </p:spPr>
        <p:txBody>
          <a:bodyPr wrap="square" lIns="0" tIns="0" rIns="0" bIns="0" rtlCol="0" anchor="t"/>
          <a:lstStyle/>
          <a:p>
            <a:pPr algn="l" indent="0" marL="0">
              <a:buNone/>
            </a:pPr>
            <a:r>
              <a:rPr lang="en-US" sz="1500" b="1" dirty="0">
                <a:solidFill>
                  <a:srgbClr val="0B1F3A"/>
                </a:solidFill>
                <a:latin typeface="Calibri" pitchFamily="34" charset="0"/>
                <a:ea typeface="Calibri" pitchFamily="34" charset="-122"/>
                <a:cs typeface="Calibri" pitchFamily="34" charset="-120"/>
              </a:rPr>
              <a:t>Key record fields</a:t>
            </a:r>
            <a:endParaRPr lang="en-US" sz="1500" dirty="0"/>
          </a:p>
        </p:txBody>
      </p:sp>
      <p:sp>
        <p:nvSpPr>
          <p:cNvPr id="26" name="Text 24"/>
          <p:cNvSpPr txBox="1"/>
          <p:nvPr/>
        </p:nvSpPr>
        <p:spPr>
          <a:xfrm>
            <a:off x="6675120" y="3017520"/>
            <a:ext cx="2103120" cy="411480"/>
          </a:xfrm>
          <a:prstGeom prst="rect">
            <a:avLst/>
          </a:prstGeom>
          <a:noFill/>
          <a:ln/>
        </p:spPr>
        <p:txBody>
          <a:bodyPr wrap="square" lIns="0" tIns="0" rIns="0" bIns="0" rtlCol="0" anchor="ctr"/>
          <a:lstStyle/>
          <a:p>
            <a:pPr indent="0" marL="0">
              <a:buNone/>
            </a:pPr>
            <a:r>
              <a:rPr lang="en-US" sz="1200" b="1" dirty="0">
                <a:solidFill>
                  <a:srgbClr val="0B1F3A"/>
                </a:solidFill>
                <a:latin typeface="Courier New" pitchFamily="34" charset="0"/>
                <a:ea typeface="Courier New" pitchFamily="34" charset="-122"/>
                <a:cs typeface="Courier New" pitchFamily="34" charset="-120"/>
              </a:rPr>
              <a:t>submission_id</a:t>
            </a:r>
            <a:endParaRPr lang="en-US" sz="1200" dirty="0"/>
          </a:p>
        </p:txBody>
      </p:sp>
      <p:sp>
        <p:nvSpPr>
          <p:cNvPr id="27" name="Text 25"/>
          <p:cNvSpPr txBox="1"/>
          <p:nvPr/>
        </p:nvSpPr>
        <p:spPr>
          <a:xfrm>
            <a:off x="8823960" y="3017520"/>
            <a:ext cx="2651760" cy="411480"/>
          </a:xfrm>
          <a:prstGeom prst="rect">
            <a:avLst/>
          </a:prstGeom>
          <a:noFill/>
          <a:ln/>
        </p:spPr>
        <p:txBody>
          <a:bodyPr wrap="square" lIns="0" tIns="0" rIns="0" bIns="0" rtlCol="0" anchor="ctr"/>
          <a:lstStyle/>
          <a:p>
            <a:pPr algn="l" indent="0" marL="0">
              <a:buNone/>
            </a:pPr>
            <a:r>
              <a:rPr lang="en-US" sz="1250" dirty="0">
                <a:solidFill>
                  <a:srgbClr val="5B6577"/>
                </a:solidFill>
                <a:latin typeface="Calibri" pitchFamily="34" charset="0"/>
                <a:ea typeface="Calibri" pitchFamily="34" charset="-122"/>
                <a:cs typeface="Calibri" pitchFamily="34" charset="-120"/>
              </a:rPr>
              <a:t>Which upload the answer belongs to</a:t>
            </a:r>
            <a:endParaRPr lang="en-US" sz="1250" dirty="0"/>
          </a:p>
        </p:txBody>
      </p:sp>
      <p:sp>
        <p:nvSpPr>
          <p:cNvPr id="28" name="Text 26"/>
          <p:cNvSpPr txBox="1"/>
          <p:nvPr/>
        </p:nvSpPr>
        <p:spPr>
          <a:xfrm>
            <a:off x="6675120" y="3502152"/>
            <a:ext cx="2103120" cy="411480"/>
          </a:xfrm>
          <a:prstGeom prst="rect">
            <a:avLst/>
          </a:prstGeom>
          <a:noFill/>
          <a:ln/>
        </p:spPr>
        <p:txBody>
          <a:bodyPr wrap="square" lIns="0" tIns="0" rIns="0" bIns="0" rtlCol="0" anchor="ctr"/>
          <a:lstStyle/>
          <a:p>
            <a:pPr indent="0" marL="0">
              <a:buNone/>
            </a:pPr>
            <a:r>
              <a:rPr lang="en-US" sz="1200" b="1" dirty="0">
                <a:solidFill>
                  <a:srgbClr val="0B1F3A"/>
                </a:solidFill>
                <a:latin typeface="Courier New" pitchFamily="34" charset="0"/>
                <a:ea typeface="Courier New" pitchFamily="34" charset="-122"/>
                <a:cs typeface="Courier New" pitchFamily="34" charset="-120"/>
              </a:rPr>
              <a:t>teacher_question_id</a:t>
            </a:r>
            <a:endParaRPr lang="en-US" sz="1200" dirty="0"/>
          </a:p>
        </p:txBody>
      </p:sp>
      <p:sp>
        <p:nvSpPr>
          <p:cNvPr id="29" name="Text 27"/>
          <p:cNvSpPr txBox="1"/>
          <p:nvPr/>
        </p:nvSpPr>
        <p:spPr>
          <a:xfrm>
            <a:off x="8823960" y="3502152"/>
            <a:ext cx="2651760" cy="411480"/>
          </a:xfrm>
          <a:prstGeom prst="rect">
            <a:avLst/>
          </a:prstGeom>
          <a:noFill/>
          <a:ln/>
        </p:spPr>
        <p:txBody>
          <a:bodyPr wrap="square" lIns="0" tIns="0" rIns="0" bIns="0" rtlCol="0" anchor="ctr"/>
          <a:lstStyle/>
          <a:p>
            <a:pPr algn="l" indent="0" marL="0">
              <a:buNone/>
            </a:pPr>
            <a:r>
              <a:rPr lang="en-US" sz="1250" dirty="0">
                <a:solidFill>
                  <a:srgbClr val="5B6577"/>
                </a:solidFill>
                <a:latin typeface="Calibri" pitchFamily="34" charset="0"/>
                <a:ea typeface="Calibri" pitchFamily="34" charset="-122"/>
                <a:cs typeface="Calibri" pitchFamily="34" charset="-120"/>
              </a:rPr>
              <a:t>Matched question (empty until mapped)</a:t>
            </a:r>
            <a:endParaRPr lang="en-US" sz="1250" dirty="0"/>
          </a:p>
        </p:txBody>
      </p:sp>
      <p:sp>
        <p:nvSpPr>
          <p:cNvPr id="30" name="Text 28"/>
          <p:cNvSpPr txBox="1"/>
          <p:nvPr/>
        </p:nvSpPr>
        <p:spPr>
          <a:xfrm>
            <a:off x="6675120" y="3986784"/>
            <a:ext cx="2103120" cy="411480"/>
          </a:xfrm>
          <a:prstGeom prst="rect">
            <a:avLst/>
          </a:prstGeom>
          <a:noFill/>
          <a:ln/>
        </p:spPr>
        <p:txBody>
          <a:bodyPr wrap="square" lIns="0" tIns="0" rIns="0" bIns="0" rtlCol="0" anchor="ctr"/>
          <a:lstStyle/>
          <a:p>
            <a:pPr indent="0" marL="0">
              <a:buNone/>
            </a:pPr>
            <a:r>
              <a:rPr lang="en-US" sz="1200" b="1" dirty="0">
                <a:solidFill>
                  <a:srgbClr val="0B1F3A"/>
                </a:solidFill>
                <a:latin typeface="Courier New" pitchFamily="34" charset="0"/>
                <a:ea typeface="Courier New" pitchFamily="34" charset="-122"/>
                <a:cs typeface="Courier New" pitchFamily="34" charset="-120"/>
              </a:rPr>
              <a:t>answer_text</a:t>
            </a:r>
            <a:endParaRPr lang="en-US" sz="1200" dirty="0"/>
          </a:p>
        </p:txBody>
      </p:sp>
      <p:sp>
        <p:nvSpPr>
          <p:cNvPr id="31" name="Text 29"/>
          <p:cNvSpPr txBox="1"/>
          <p:nvPr/>
        </p:nvSpPr>
        <p:spPr>
          <a:xfrm>
            <a:off x="8823960" y="3986784"/>
            <a:ext cx="2651760" cy="411480"/>
          </a:xfrm>
          <a:prstGeom prst="rect">
            <a:avLst/>
          </a:prstGeom>
          <a:noFill/>
          <a:ln/>
        </p:spPr>
        <p:txBody>
          <a:bodyPr wrap="square" lIns="0" tIns="0" rIns="0" bIns="0" rtlCol="0" anchor="ctr"/>
          <a:lstStyle/>
          <a:p>
            <a:pPr algn="l" indent="0" marL="0">
              <a:buNone/>
            </a:pPr>
            <a:r>
              <a:rPr lang="en-US" sz="1250" dirty="0">
                <a:solidFill>
                  <a:srgbClr val="5B6577"/>
                </a:solidFill>
                <a:latin typeface="Calibri" pitchFamily="34" charset="0"/>
                <a:ea typeface="Calibri" pitchFamily="34" charset="-122"/>
                <a:cs typeface="Calibri" pitchFamily="34" charset="-120"/>
              </a:rPr>
              <a:t>The extracted answer text</a:t>
            </a:r>
            <a:endParaRPr lang="en-US" sz="1250" dirty="0"/>
          </a:p>
        </p:txBody>
      </p:sp>
      <p:sp>
        <p:nvSpPr>
          <p:cNvPr id="32" name="Text 30"/>
          <p:cNvSpPr txBox="1"/>
          <p:nvPr/>
        </p:nvSpPr>
        <p:spPr>
          <a:xfrm>
            <a:off x="6675120" y="4471416"/>
            <a:ext cx="2103120" cy="411480"/>
          </a:xfrm>
          <a:prstGeom prst="rect">
            <a:avLst/>
          </a:prstGeom>
          <a:noFill/>
          <a:ln/>
        </p:spPr>
        <p:txBody>
          <a:bodyPr wrap="square" lIns="0" tIns="0" rIns="0" bIns="0" rtlCol="0" anchor="ctr"/>
          <a:lstStyle/>
          <a:p>
            <a:pPr indent="0" marL="0">
              <a:buNone/>
            </a:pPr>
            <a:r>
              <a:rPr lang="en-US" sz="1200" b="1" dirty="0">
                <a:solidFill>
                  <a:srgbClr val="0B1F3A"/>
                </a:solidFill>
                <a:latin typeface="Courier New" pitchFamily="34" charset="0"/>
                <a:ea typeface="Courier New" pitchFamily="34" charset="-122"/>
                <a:cs typeface="Courier New" pitchFamily="34" charset="-120"/>
              </a:rPr>
              <a:t>page_references</a:t>
            </a:r>
            <a:endParaRPr lang="en-US" sz="1200" dirty="0"/>
          </a:p>
        </p:txBody>
      </p:sp>
      <p:sp>
        <p:nvSpPr>
          <p:cNvPr id="33" name="Text 31"/>
          <p:cNvSpPr txBox="1"/>
          <p:nvPr/>
        </p:nvSpPr>
        <p:spPr>
          <a:xfrm>
            <a:off x="8823960" y="4471416"/>
            <a:ext cx="2651760" cy="411480"/>
          </a:xfrm>
          <a:prstGeom prst="rect">
            <a:avLst/>
          </a:prstGeom>
          <a:noFill/>
          <a:ln/>
        </p:spPr>
        <p:txBody>
          <a:bodyPr wrap="square" lIns="0" tIns="0" rIns="0" bIns="0" rtlCol="0" anchor="ctr"/>
          <a:lstStyle/>
          <a:p>
            <a:pPr algn="l" indent="0" marL="0">
              <a:buNone/>
            </a:pPr>
            <a:r>
              <a:rPr lang="en-US" sz="1250" dirty="0">
                <a:solidFill>
                  <a:srgbClr val="5B6577"/>
                </a:solidFill>
                <a:latin typeface="Calibri" pitchFamily="34" charset="0"/>
                <a:ea typeface="Calibri" pitchFamily="34" charset="-122"/>
                <a:cs typeface="Calibri" pitchFamily="34" charset="-120"/>
              </a:rPr>
              <a:t>Where it appears in the original file</a:t>
            </a:r>
            <a:endParaRPr lang="en-US" sz="1250" dirty="0"/>
          </a:p>
        </p:txBody>
      </p:sp>
      <p:sp>
        <p:nvSpPr>
          <p:cNvPr id="34" name="Text 32"/>
          <p:cNvSpPr txBox="1"/>
          <p:nvPr/>
        </p:nvSpPr>
        <p:spPr>
          <a:xfrm>
            <a:off x="6675120" y="4956048"/>
            <a:ext cx="2103120" cy="411480"/>
          </a:xfrm>
          <a:prstGeom prst="rect">
            <a:avLst/>
          </a:prstGeom>
          <a:noFill/>
          <a:ln/>
        </p:spPr>
        <p:txBody>
          <a:bodyPr wrap="square" lIns="0" tIns="0" rIns="0" bIns="0" rtlCol="0" anchor="ctr"/>
          <a:lstStyle/>
          <a:p>
            <a:pPr indent="0" marL="0">
              <a:buNone/>
            </a:pPr>
            <a:r>
              <a:rPr lang="en-US" sz="1200" b="1" dirty="0">
                <a:solidFill>
                  <a:srgbClr val="0B1F3A"/>
                </a:solidFill>
                <a:latin typeface="Courier New" pitchFamily="34" charset="0"/>
                <a:ea typeface="Courier New" pitchFamily="34" charset="-122"/>
                <a:cs typeface="Courier New" pitchFamily="34" charset="-120"/>
              </a:rPr>
              <a:t>mapping_status</a:t>
            </a:r>
            <a:endParaRPr lang="en-US" sz="1200" dirty="0"/>
          </a:p>
        </p:txBody>
      </p:sp>
      <p:sp>
        <p:nvSpPr>
          <p:cNvPr id="35" name="Text 33"/>
          <p:cNvSpPr txBox="1"/>
          <p:nvPr/>
        </p:nvSpPr>
        <p:spPr>
          <a:xfrm>
            <a:off x="8823960" y="4956048"/>
            <a:ext cx="2651760" cy="411480"/>
          </a:xfrm>
          <a:prstGeom prst="rect">
            <a:avLst/>
          </a:prstGeom>
          <a:noFill/>
          <a:ln/>
        </p:spPr>
        <p:txBody>
          <a:bodyPr wrap="square" lIns="0" tIns="0" rIns="0" bIns="0" rtlCol="0" anchor="ctr"/>
          <a:lstStyle/>
          <a:p>
            <a:pPr algn="l" indent="0" marL="0">
              <a:buNone/>
            </a:pPr>
            <a:r>
              <a:rPr lang="en-US" sz="1250" dirty="0">
                <a:solidFill>
                  <a:srgbClr val="5B6577"/>
                </a:solidFill>
                <a:latin typeface="Calibri" pitchFamily="34" charset="0"/>
                <a:ea typeface="Calibri" pitchFamily="34" charset="-122"/>
                <a:cs typeface="Calibri" pitchFamily="34" charset="-120"/>
              </a:rPr>
              <a:t>Mapped, or flagged for review</a:t>
            </a:r>
            <a:endParaRPr lang="en-US" sz="1250" dirty="0"/>
          </a:p>
        </p:txBody>
      </p:sp>
      <p:sp>
        <p:nvSpPr>
          <p:cNvPr id="36" name="Box: This phase organizes answers f"/>
          <p:cNvSpPr/>
          <p:nvPr/>
        </p:nvSpPr>
        <p:spPr>
          <a:xfrm>
            <a:off x="548640" y="5669280"/>
            <a:ext cx="11064240" cy="594360"/>
          </a:xfrm>
          <a:prstGeom prst="roundRect">
            <a:avLst>
              <a:gd name="adj" fmla="val 12308"/>
            </a:avLst>
          </a:prstGeom>
          <a:solidFill>
            <a:srgbClr val="0B1F3A"/>
          </a:solidFill>
          <a:ln w="12700">
            <a:solidFill>
              <a:srgbClr val="0B1F3A"/>
            </a:solidFill>
          </a:ln>
        </p:spPr>
        <p:txBody>
          <a:bodyPr wrap="square" lIns="76200" tIns="76200" rIns="76200" bIns="762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This phase organizes answers for grading; it does not award marks.</a:t>
            </a:r>
            <a:endParaRPr lang="en-US" sz="17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rgbClr val="0B1F3A"/>
                </a:solidFill>
                <a:latin typeface="Calibri" pitchFamily="34" charset="0"/>
                <a:ea typeface="Calibri" pitchFamily="34" charset="-122"/>
                <a:cs typeface="Calibri" pitchFamily="34" charset="-120"/>
              </a:rPr>
              <a:t>Phase 4 — Rubric-Based AI Evaluation</a:t>
            </a:r>
            <a:endParaRPr lang="en-US" sz="2800" dirty="0"/>
          </a:p>
        </p:txBody>
      </p:sp>
      <p:sp>
        <p:nvSpPr>
          <p:cNvPr id="3" name="Shape 1"/>
          <p:cNvSpPr/>
          <p:nvPr/>
        </p:nvSpPr>
        <p:spPr>
          <a:xfrm>
            <a:off x="6172200" y="6510528"/>
            <a:ext cx="128016" cy="128016"/>
          </a:xfrm>
          <a:prstGeom prst="ellipse">
            <a:avLst/>
          </a:prstGeom>
          <a:solidFill>
            <a:srgbClr val="2E9E5B"/>
          </a:solidFill>
          <a:ln/>
        </p:spPr>
      </p:sp>
      <p:sp>
        <p:nvSpPr>
          <p:cNvPr id="4" name="Text 2"/>
          <p:cNvSpPr txBox="1"/>
          <p:nvPr/>
        </p:nvSpPr>
        <p:spPr>
          <a:xfrm>
            <a:off x="6373368" y="6446520"/>
            <a:ext cx="8229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Reported</a:t>
            </a:r>
            <a:endParaRPr lang="en-US" sz="1100" dirty="0"/>
          </a:p>
        </p:txBody>
      </p:sp>
      <p:sp>
        <p:nvSpPr>
          <p:cNvPr id="5" name="Shape 3"/>
          <p:cNvSpPr/>
          <p:nvPr/>
        </p:nvSpPr>
        <p:spPr>
          <a:xfrm>
            <a:off x="7315200" y="6510528"/>
            <a:ext cx="128016" cy="128016"/>
          </a:xfrm>
          <a:prstGeom prst="ellipse">
            <a:avLst/>
          </a:prstGeom>
          <a:solidFill>
            <a:srgbClr val="E0A100"/>
          </a:solidFill>
          <a:ln/>
        </p:spPr>
      </p:sp>
      <p:sp>
        <p:nvSpPr>
          <p:cNvPr id="6" name="Text 4"/>
          <p:cNvSpPr txBox="1"/>
          <p:nvPr/>
        </p:nvSpPr>
        <p:spPr>
          <a:xfrm>
            <a:off x="7516368" y="6446520"/>
            <a:ext cx="146304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Pending verification</a:t>
            </a:r>
            <a:endParaRPr lang="en-US" sz="1100" dirty="0"/>
          </a:p>
        </p:txBody>
      </p:sp>
      <p:sp>
        <p:nvSpPr>
          <p:cNvPr id="7" name="Shape 5"/>
          <p:cNvSpPr/>
          <p:nvPr/>
        </p:nvSpPr>
        <p:spPr>
          <a:xfrm>
            <a:off x="9235440" y="6492240"/>
            <a:ext cx="274320" cy="164592"/>
          </a:xfrm>
          <a:prstGeom prst="roundRect">
            <a:avLst/>
          </a:prstGeom>
          <a:solidFill>
            <a:srgbClr val="FFFFFF"/>
          </a:solidFill>
          <a:ln w="15875">
            <a:solidFill>
              <a:srgbClr val="6D5BD0"/>
            </a:solidFill>
            <a:prstDash val="dash"/>
          </a:ln>
        </p:spPr>
      </p:sp>
      <p:sp>
        <p:nvSpPr>
          <p:cNvPr id="8" name="Text 6"/>
          <p:cNvSpPr txBox="1"/>
          <p:nvPr/>
        </p:nvSpPr>
        <p:spPr>
          <a:xfrm>
            <a:off x="9601200" y="6446520"/>
            <a:ext cx="17373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Planned / not confirmed</a:t>
            </a:r>
            <a:endParaRPr lang="en-US" sz="1100" dirty="0"/>
          </a:p>
        </p:txBody>
      </p:sp>
      <p:sp>
        <p:nvSpPr>
          <p:cNvPr id="9" name="Box: PLANNED / COMPLETION NOT CONFI"/>
          <p:cNvSpPr/>
          <p:nvPr/>
        </p:nvSpPr>
        <p:spPr>
          <a:xfrm>
            <a:off x="548640" y="1051560"/>
            <a:ext cx="3566160" cy="329184"/>
          </a:xfrm>
          <a:prstGeom prst="roundRect">
            <a:avLst>
              <a:gd name="adj" fmla="val 22222"/>
            </a:avLst>
          </a:prstGeom>
          <a:solidFill>
            <a:srgbClr val="ECE9FA"/>
          </a:solidFill>
          <a:ln w="19050">
            <a:solidFill>
              <a:srgbClr val="6D5BD0"/>
            </a:solidFill>
            <a:prstDash val="dash"/>
          </a:ln>
        </p:spPr>
        <p:txBody>
          <a:bodyPr wrap="square" lIns="25400" tIns="25400" rIns="25400" bIns="25400" rtlCol="0" anchor="ctr"/>
          <a:lstStyle/>
          <a:p>
            <a:pPr algn="ctr" indent="0" marL="0">
              <a:buNone/>
            </a:pPr>
            <a:r>
              <a:rPr lang="en-US" sz="1200" b="1" dirty="0">
                <a:solidFill>
                  <a:srgbClr val="6D5BD0"/>
                </a:solidFill>
                <a:latin typeface="Calibri" pitchFamily="34" charset="0"/>
                <a:ea typeface="Calibri" pitchFamily="34" charset="-122"/>
                <a:cs typeface="Calibri" pitchFamily="34" charset="-120"/>
              </a:rPr>
              <a:t>PLANNED / COMPLETION NOT CONFIRMED</a:t>
            </a:r>
            <a:endParaRPr lang="en-US" sz="1200" dirty="0"/>
          </a:p>
        </p:txBody>
      </p:sp>
      <p:sp>
        <p:nvSpPr>
          <p:cNvPr id="10" name="Box: Mapped Student Answer"/>
          <p:cNvSpPr/>
          <p:nvPr/>
        </p:nvSpPr>
        <p:spPr>
          <a:xfrm>
            <a:off x="548640" y="1554480"/>
            <a:ext cx="1645920" cy="868680"/>
          </a:xfrm>
          <a:prstGeom prst="roundRect">
            <a:avLst>
              <a:gd name="adj" fmla="val 8421"/>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Mapped Student Answer</a:t>
            </a:r>
            <a:endParaRPr lang="en-US" sz="1200" dirty="0"/>
          </a:p>
        </p:txBody>
      </p:sp>
      <p:sp>
        <p:nvSpPr>
          <p:cNvPr id="11" name="Arrow"/>
          <p:cNvSpPr/>
          <p:nvPr/>
        </p:nvSpPr>
        <p:spPr>
          <a:xfrm>
            <a:off x="2221992" y="1988820"/>
            <a:ext cx="182880" cy="0"/>
          </a:xfrm>
          <a:prstGeom prst="line">
            <a:avLst/>
          </a:prstGeom>
          <a:noFill/>
          <a:ln w="22225">
            <a:solidFill>
              <a:srgbClr val="5B6577"/>
            </a:solidFill>
            <a:prstDash val="dash"/>
            <a:tailEnd type="triangle"/>
          </a:ln>
        </p:spPr>
      </p:sp>
      <p:sp>
        <p:nvSpPr>
          <p:cNvPr id="12" name="Box: Fetch Teacher Question, Rubric"/>
          <p:cNvSpPr/>
          <p:nvPr/>
        </p:nvSpPr>
        <p:spPr>
          <a:xfrm>
            <a:off x="2432304" y="1554480"/>
            <a:ext cx="1645920" cy="868680"/>
          </a:xfrm>
          <a:prstGeom prst="roundRect">
            <a:avLst>
              <a:gd name="adj" fmla="val 8421"/>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Fetch Teacher Question, Rubric, Model Answer, Max Marks</a:t>
            </a:r>
            <a:endParaRPr lang="en-US" sz="1200" dirty="0"/>
          </a:p>
        </p:txBody>
      </p:sp>
      <p:sp>
        <p:nvSpPr>
          <p:cNvPr id="13" name="Arrow"/>
          <p:cNvSpPr/>
          <p:nvPr/>
        </p:nvSpPr>
        <p:spPr>
          <a:xfrm>
            <a:off x="4105656" y="1988820"/>
            <a:ext cx="182880" cy="0"/>
          </a:xfrm>
          <a:prstGeom prst="line">
            <a:avLst/>
          </a:prstGeom>
          <a:noFill/>
          <a:ln w="22225">
            <a:solidFill>
              <a:srgbClr val="5B6577"/>
            </a:solidFill>
            <a:prstDash val="dash"/>
            <a:tailEnd type="triangle"/>
          </a:ln>
        </p:spPr>
      </p:sp>
      <p:sp>
        <p:nvSpPr>
          <p:cNvPr id="14" name="Box: Optional Relevant Context Retr"/>
          <p:cNvSpPr/>
          <p:nvPr/>
        </p:nvSpPr>
        <p:spPr>
          <a:xfrm>
            <a:off x="4315968" y="1554480"/>
            <a:ext cx="1645920" cy="868680"/>
          </a:xfrm>
          <a:prstGeom prst="roundRect">
            <a:avLst>
              <a:gd name="adj" fmla="val 8421"/>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Optional Relevant Context Retrieval</a:t>
            </a:r>
            <a:endParaRPr lang="en-US" sz="1200" dirty="0"/>
          </a:p>
        </p:txBody>
      </p:sp>
      <p:sp>
        <p:nvSpPr>
          <p:cNvPr id="15" name="Arrow"/>
          <p:cNvSpPr/>
          <p:nvPr/>
        </p:nvSpPr>
        <p:spPr>
          <a:xfrm>
            <a:off x="5989320" y="1988820"/>
            <a:ext cx="182880" cy="0"/>
          </a:xfrm>
          <a:prstGeom prst="line">
            <a:avLst/>
          </a:prstGeom>
          <a:noFill/>
          <a:ln w="22225">
            <a:solidFill>
              <a:srgbClr val="5B6577"/>
            </a:solidFill>
            <a:prstDash val="dash"/>
            <a:tailEnd type="triangle"/>
          </a:ln>
        </p:spPr>
      </p:sp>
      <p:sp>
        <p:nvSpPr>
          <p:cNvPr id="16" name="Box: Evaluation LLM"/>
          <p:cNvSpPr/>
          <p:nvPr/>
        </p:nvSpPr>
        <p:spPr>
          <a:xfrm>
            <a:off x="6199632" y="1554480"/>
            <a:ext cx="1645920" cy="868680"/>
          </a:xfrm>
          <a:prstGeom prst="roundRect">
            <a:avLst>
              <a:gd name="adj" fmla="val 8421"/>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Evaluation LLM</a:t>
            </a:r>
            <a:endParaRPr lang="en-US" sz="1200" dirty="0"/>
          </a:p>
        </p:txBody>
      </p:sp>
      <p:sp>
        <p:nvSpPr>
          <p:cNvPr id="17" name="Arrow"/>
          <p:cNvSpPr/>
          <p:nvPr/>
        </p:nvSpPr>
        <p:spPr>
          <a:xfrm>
            <a:off x="7872984" y="1988820"/>
            <a:ext cx="182880" cy="0"/>
          </a:xfrm>
          <a:prstGeom prst="line">
            <a:avLst/>
          </a:prstGeom>
          <a:noFill/>
          <a:ln w="22225">
            <a:solidFill>
              <a:srgbClr val="5B6577"/>
            </a:solidFill>
            <a:prstDash val="dash"/>
            <a:tailEnd type="triangle"/>
          </a:ln>
        </p:spPr>
      </p:sp>
      <p:sp>
        <p:nvSpPr>
          <p:cNvPr id="18" name="Box: Validate Output and Store Resu"/>
          <p:cNvSpPr/>
          <p:nvPr/>
        </p:nvSpPr>
        <p:spPr>
          <a:xfrm>
            <a:off x="8083296" y="1554480"/>
            <a:ext cx="1645920" cy="868680"/>
          </a:xfrm>
          <a:prstGeom prst="roundRect">
            <a:avLst>
              <a:gd name="adj" fmla="val 8421"/>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Validate Output and Store Results</a:t>
            </a:r>
            <a:endParaRPr lang="en-US" sz="1200" dirty="0"/>
          </a:p>
        </p:txBody>
      </p:sp>
      <p:sp>
        <p:nvSpPr>
          <p:cNvPr id="19" name="Arrow"/>
          <p:cNvSpPr/>
          <p:nvPr/>
        </p:nvSpPr>
        <p:spPr>
          <a:xfrm>
            <a:off x="9756648" y="1988820"/>
            <a:ext cx="182880" cy="0"/>
          </a:xfrm>
          <a:prstGeom prst="line">
            <a:avLst/>
          </a:prstGeom>
          <a:noFill/>
          <a:ln w="22225">
            <a:solidFill>
              <a:srgbClr val="5B6577"/>
            </a:solidFill>
            <a:prstDash val="dash"/>
            <a:tailEnd type="triangle"/>
          </a:ln>
        </p:spPr>
      </p:sp>
      <p:sp>
        <p:nvSpPr>
          <p:cNvPr id="20" name="Box: Teacher Review and Student Fee"/>
          <p:cNvSpPr/>
          <p:nvPr/>
        </p:nvSpPr>
        <p:spPr>
          <a:xfrm>
            <a:off x="9966960" y="1554480"/>
            <a:ext cx="1645920" cy="868680"/>
          </a:xfrm>
          <a:prstGeom prst="roundRect">
            <a:avLst>
              <a:gd name="adj" fmla="val 8421"/>
            </a:avLst>
          </a:prstGeom>
          <a:solidFill>
            <a:srgbClr val="FFFFFF"/>
          </a:solidFill>
          <a:ln w="19050">
            <a:solidFill>
              <a:srgbClr val="6D5BD0"/>
            </a:solidFill>
            <a:prstDash val="dash"/>
          </a:ln>
        </p:spPr>
        <p:txBody>
          <a:bodyPr wrap="square" lIns="76200" tIns="76200" rIns="76200" bIns="762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Teacher Review and Student Feedback</a:t>
            </a:r>
            <a:endParaRPr lang="en-US" sz="1200" dirty="0"/>
          </a:p>
        </p:txBody>
      </p:sp>
      <p:sp>
        <p:nvSpPr>
          <p:cNvPr id="21" name="Text 19"/>
          <p:cNvSpPr txBox="1"/>
          <p:nvPr/>
        </p:nvSpPr>
        <p:spPr>
          <a:xfrm>
            <a:off x="548640" y="2651760"/>
            <a:ext cx="5486400" cy="2926080"/>
          </a:xfrm>
          <a:prstGeom prst="rect">
            <a:avLst/>
          </a:prstGeom>
          <a:noFill/>
          <a:ln/>
        </p:spPr>
        <p:txBody>
          <a:bodyPr wrap="square" lIns="0" tIns="0" rIns="0" bIns="0" rtlCol="0" anchor="t"/>
          <a:lstStyle/>
          <a:p>
            <a:pPr indent="0" marL="0">
              <a:spcAft>
                <a:spcPts val="200"/>
              </a:spcAft>
              <a:buNone/>
            </a:pPr>
            <a:r>
              <a:rPr lang="en-US" sz="1600" b="1" dirty="0">
                <a:solidFill>
                  <a:srgbClr val="0B1F3A"/>
                </a:solidFill>
                <a:latin typeface="Calibri" pitchFamily="34" charset="0"/>
                <a:ea typeface="Calibri" pitchFamily="34" charset="-122"/>
                <a:cs typeface="Calibri" pitchFamily="34" charset="-120"/>
              </a:rPr>
              <a:t>How it is intended to work</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Exact question, rubric, model answer and maximum marks come from structured storage.</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ChromaDB may add relevant context, but the application must pass it to the LLM explicitly.</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Output is validated: marks must be numeric and between 0 and the maximum.</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Unclear OCR or uncertain results are flagged for teacher review.</a:t>
            </a:r>
            <a:endParaRPr lang="en-US" sz="1400" dirty="0"/>
          </a:p>
          <a:p>
            <a:pPr marL="342900" indent="-342900">
              <a:spcAft>
                <a:spcPts val="300"/>
              </a:spcAft>
              <a:buSzPct val="100000"/>
              <a:buChar char="•"/>
            </a:pPr>
            <a:r>
              <a:rPr lang="en-US" sz="1400" dirty="0">
                <a:solidFill>
                  <a:srgbClr val="1F2937"/>
                </a:solidFill>
                <a:latin typeface="Calibri" pitchFamily="34" charset="0"/>
                <a:ea typeface="Calibri" pitchFamily="34" charset="-122"/>
                <a:cs typeface="Calibri" pitchFamily="34" charset="-120"/>
              </a:rPr>
              <a:t>Diagram and table evaluation is a later enhancement.</a:t>
            </a:r>
            <a:endParaRPr lang="en-US" sz="1400" dirty="0"/>
          </a:p>
        </p:txBody>
      </p:sp>
      <p:sp>
        <p:nvSpPr>
          <p:cNvPr id="22" name="Box: "/>
          <p:cNvSpPr/>
          <p:nvPr/>
        </p:nvSpPr>
        <p:spPr>
          <a:xfrm>
            <a:off x="6309360" y="2651760"/>
            <a:ext cx="5303520" cy="1280160"/>
          </a:xfrm>
          <a:prstGeom prst="rect">
            <a:avLst>
              <a:gd name="adj" fmla="val 5714"/>
            </a:avLst>
          </a:prstGeom>
          <a:solidFill>
            <a:srgbClr val="FFFFFF"/>
          </a:solidFill>
          <a:ln w="12700">
            <a:solidFill>
              <a:srgbClr val="CBD2DC"/>
            </a:solidFill>
          </a:ln>
        </p:spPr>
        <p:txBody>
          <a:bodyPr wrap="square" lIns="76200" tIns="76200" rIns="76200" bIns="76200" rtlCol="0" anchor="ctr"/>
          <a:lstStyle/>
          <a:p>
            <a:pPr algn="ctr" indent="0" marL="0">
              <a:buNone/>
            </a:pPr>
            <a:endParaRPr lang="en-US" sz="1300" dirty="0"/>
          </a:p>
        </p:txBody>
      </p:sp>
      <p:sp>
        <p:nvSpPr>
          <p:cNvPr id="23" name="Text 21"/>
          <p:cNvSpPr txBox="1"/>
          <p:nvPr/>
        </p:nvSpPr>
        <p:spPr>
          <a:xfrm>
            <a:off x="6492240" y="2715768"/>
            <a:ext cx="4572000" cy="274320"/>
          </a:xfrm>
          <a:prstGeom prst="rect">
            <a:avLst/>
          </a:prstGeom>
          <a:noFill/>
          <a:ln/>
        </p:spPr>
        <p:txBody>
          <a:bodyPr wrap="square" lIns="0" tIns="0" rIns="0" bIns="0" rtlCol="0" anchor="t"/>
          <a:lstStyle/>
          <a:p>
            <a:pPr algn="l" indent="0" marL="0">
              <a:buNone/>
            </a:pPr>
            <a:r>
              <a:rPr lang="en-US" sz="1500" b="1" dirty="0">
                <a:solidFill>
                  <a:srgbClr val="0B1F3A"/>
                </a:solidFill>
                <a:latin typeface="Calibri" pitchFamily="34" charset="0"/>
                <a:ea typeface="Calibri" pitchFamily="34" charset="-122"/>
                <a:cs typeface="Calibri" pitchFamily="34" charset="-120"/>
              </a:rPr>
              <a:t>Intended outputs</a:t>
            </a:r>
            <a:endParaRPr lang="en-US" sz="1500" dirty="0"/>
          </a:p>
        </p:txBody>
      </p:sp>
      <p:sp>
        <p:nvSpPr>
          <p:cNvPr id="24" name="Box: Marks awarded"/>
          <p:cNvSpPr/>
          <p:nvPr/>
        </p:nvSpPr>
        <p:spPr>
          <a:xfrm>
            <a:off x="6492240" y="3017520"/>
            <a:ext cx="1600200" cy="365760"/>
          </a:xfrm>
          <a:prstGeom prst="roundRect">
            <a:avLst>
              <a:gd name="adj" fmla="val 20000"/>
            </a:avLst>
          </a:prstGeom>
          <a:solidFill>
            <a:srgbClr val="E3F4F3"/>
          </a:solidFill>
          <a:ln w="12700">
            <a:solidFill>
              <a:srgbClr val="0F9D9A"/>
            </a:solidFill>
          </a:ln>
        </p:spPr>
        <p:txBody>
          <a:bodyPr wrap="square" lIns="25400" tIns="25400" rIns="25400" bIns="254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Marks awarded</a:t>
            </a:r>
            <a:endParaRPr lang="en-US" sz="1200" dirty="0"/>
          </a:p>
        </p:txBody>
      </p:sp>
      <p:sp>
        <p:nvSpPr>
          <p:cNvPr id="25" name="Box: Maximum marks"/>
          <p:cNvSpPr/>
          <p:nvPr/>
        </p:nvSpPr>
        <p:spPr>
          <a:xfrm>
            <a:off x="8183880" y="3017520"/>
            <a:ext cx="1600200" cy="365760"/>
          </a:xfrm>
          <a:prstGeom prst="roundRect">
            <a:avLst>
              <a:gd name="adj" fmla="val 20000"/>
            </a:avLst>
          </a:prstGeom>
          <a:solidFill>
            <a:srgbClr val="E3F4F3"/>
          </a:solidFill>
          <a:ln w="12700">
            <a:solidFill>
              <a:srgbClr val="0F9D9A"/>
            </a:solidFill>
          </a:ln>
        </p:spPr>
        <p:txBody>
          <a:bodyPr wrap="square" lIns="25400" tIns="25400" rIns="25400" bIns="254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Maximum marks</a:t>
            </a:r>
            <a:endParaRPr lang="en-US" sz="1200" dirty="0"/>
          </a:p>
        </p:txBody>
      </p:sp>
      <p:sp>
        <p:nvSpPr>
          <p:cNvPr id="26" name="Box: Reasoning"/>
          <p:cNvSpPr/>
          <p:nvPr/>
        </p:nvSpPr>
        <p:spPr>
          <a:xfrm>
            <a:off x="9875520" y="3017520"/>
            <a:ext cx="1600200" cy="365760"/>
          </a:xfrm>
          <a:prstGeom prst="roundRect">
            <a:avLst>
              <a:gd name="adj" fmla="val 20000"/>
            </a:avLst>
          </a:prstGeom>
          <a:solidFill>
            <a:srgbClr val="E3F4F3"/>
          </a:solidFill>
          <a:ln w="12700">
            <a:solidFill>
              <a:srgbClr val="0F9D9A"/>
            </a:solidFill>
          </a:ln>
        </p:spPr>
        <p:txBody>
          <a:bodyPr wrap="square" lIns="25400" tIns="25400" rIns="25400" bIns="254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Reasoning</a:t>
            </a:r>
            <a:endParaRPr lang="en-US" sz="1200" dirty="0"/>
          </a:p>
        </p:txBody>
      </p:sp>
      <p:sp>
        <p:nvSpPr>
          <p:cNvPr id="27" name="Box: Missing concepts"/>
          <p:cNvSpPr/>
          <p:nvPr/>
        </p:nvSpPr>
        <p:spPr>
          <a:xfrm>
            <a:off x="6492240" y="3438144"/>
            <a:ext cx="1600200" cy="365760"/>
          </a:xfrm>
          <a:prstGeom prst="roundRect">
            <a:avLst>
              <a:gd name="adj" fmla="val 20000"/>
            </a:avLst>
          </a:prstGeom>
          <a:solidFill>
            <a:srgbClr val="E3F4F3"/>
          </a:solidFill>
          <a:ln w="12700">
            <a:solidFill>
              <a:srgbClr val="0F9D9A"/>
            </a:solidFill>
          </a:ln>
        </p:spPr>
        <p:txBody>
          <a:bodyPr wrap="square" lIns="25400" tIns="25400" rIns="25400" bIns="254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Missing concepts</a:t>
            </a:r>
            <a:endParaRPr lang="en-US" sz="1200" dirty="0"/>
          </a:p>
        </p:txBody>
      </p:sp>
      <p:sp>
        <p:nvSpPr>
          <p:cNvPr id="28" name="Box: Feedback"/>
          <p:cNvSpPr/>
          <p:nvPr/>
        </p:nvSpPr>
        <p:spPr>
          <a:xfrm>
            <a:off x="8183880" y="3438144"/>
            <a:ext cx="1600200" cy="365760"/>
          </a:xfrm>
          <a:prstGeom prst="roundRect">
            <a:avLst>
              <a:gd name="adj" fmla="val 20000"/>
            </a:avLst>
          </a:prstGeom>
          <a:solidFill>
            <a:srgbClr val="E3F4F3"/>
          </a:solidFill>
          <a:ln w="12700">
            <a:solidFill>
              <a:srgbClr val="0F9D9A"/>
            </a:solidFill>
          </a:ln>
        </p:spPr>
        <p:txBody>
          <a:bodyPr wrap="square" lIns="25400" tIns="25400" rIns="25400" bIns="254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Feedback</a:t>
            </a:r>
            <a:endParaRPr lang="en-US" sz="1200" dirty="0"/>
          </a:p>
        </p:txBody>
      </p:sp>
      <p:sp>
        <p:nvSpPr>
          <p:cNvPr id="29" name="Box: Teacher-review flag"/>
          <p:cNvSpPr/>
          <p:nvPr/>
        </p:nvSpPr>
        <p:spPr>
          <a:xfrm>
            <a:off x="9875520" y="3438144"/>
            <a:ext cx="1600200" cy="365760"/>
          </a:xfrm>
          <a:prstGeom prst="roundRect">
            <a:avLst>
              <a:gd name="adj" fmla="val 20000"/>
            </a:avLst>
          </a:prstGeom>
          <a:solidFill>
            <a:srgbClr val="E3F4F3"/>
          </a:solidFill>
          <a:ln w="12700">
            <a:solidFill>
              <a:srgbClr val="0F9D9A"/>
            </a:solidFill>
          </a:ln>
        </p:spPr>
        <p:txBody>
          <a:bodyPr wrap="square" lIns="25400" tIns="25400" rIns="25400" bIns="25400" rtlCol="0" anchor="ctr"/>
          <a:lstStyle/>
          <a:p>
            <a:pPr algn="ctr" indent="0" marL="0">
              <a:buNone/>
            </a:pPr>
            <a:r>
              <a:rPr lang="en-US" sz="1200" dirty="0">
                <a:solidFill>
                  <a:srgbClr val="1F2937"/>
                </a:solidFill>
                <a:latin typeface="Calibri" pitchFamily="34" charset="0"/>
                <a:ea typeface="Calibri" pitchFamily="34" charset="-122"/>
                <a:cs typeface="Calibri" pitchFamily="34" charset="-120"/>
              </a:rPr>
              <a:t>Teacher-review flag</a:t>
            </a:r>
            <a:endParaRPr lang="en-US" sz="1200" dirty="0"/>
          </a:p>
        </p:txBody>
      </p:sp>
      <p:sp>
        <p:nvSpPr>
          <p:cNvPr id="30" name="Box: "/>
          <p:cNvSpPr/>
          <p:nvPr/>
        </p:nvSpPr>
        <p:spPr>
          <a:xfrm>
            <a:off x="6309360" y="4069080"/>
            <a:ext cx="5303520" cy="1508760"/>
          </a:xfrm>
          <a:prstGeom prst="rect">
            <a:avLst>
              <a:gd name="adj" fmla="val 4848"/>
            </a:avLst>
          </a:prstGeom>
          <a:solidFill>
            <a:srgbClr val="FFFFFF"/>
          </a:solidFill>
          <a:ln w="19050">
            <a:solidFill>
              <a:srgbClr val="6D5BD0"/>
            </a:solidFill>
            <a:prstDash val="dash"/>
          </a:ln>
        </p:spPr>
        <p:txBody>
          <a:bodyPr wrap="square" lIns="76200" tIns="76200" rIns="76200" bIns="76200" rtlCol="0" anchor="ctr"/>
          <a:lstStyle/>
          <a:p>
            <a:pPr algn="ctr" indent="0" marL="0">
              <a:buNone/>
            </a:pPr>
            <a:endParaRPr lang="en-US" sz="1300" dirty="0"/>
          </a:p>
        </p:txBody>
      </p:sp>
      <p:sp>
        <p:nvSpPr>
          <p:cNvPr id="31" name="Text 29"/>
          <p:cNvSpPr txBox="1"/>
          <p:nvPr/>
        </p:nvSpPr>
        <p:spPr>
          <a:xfrm>
            <a:off x="6492240" y="4133088"/>
            <a:ext cx="4937760" cy="274320"/>
          </a:xfrm>
          <a:prstGeom prst="rect">
            <a:avLst/>
          </a:prstGeom>
          <a:noFill/>
          <a:ln/>
        </p:spPr>
        <p:txBody>
          <a:bodyPr wrap="square" lIns="0" tIns="0" rIns="0" bIns="0" rtlCol="0" anchor="t"/>
          <a:lstStyle/>
          <a:p>
            <a:pPr algn="l" indent="0" marL="0">
              <a:buNone/>
            </a:pPr>
            <a:r>
              <a:rPr lang="en-US" sz="1200" b="1" dirty="0">
                <a:solidFill>
                  <a:srgbClr val="6D5BD0"/>
                </a:solidFill>
                <a:latin typeface="Calibri" pitchFamily="34" charset="0"/>
                <a:ea typeface="Calibri" pitchFamily="34" charset="-122"/>
                <a:cs typeface="Calibri" pitchFamily="34" charset="-120"/>
              </a:rPr>
              <a:t>ILLUSTRATIVE EXAMPLE — not an actual project test result</a:t>
            </a:r>
            <a:endParaRPr lang="en-US" sz="1200" dirty="0"/>
          </a:p>
        </p:txBody>
      </p:sp>
      <p:sp>
        <p:nvSpPr>
          <p:cNvPr id="32" name="Text 30"/>
          <p:cNvSpPr txBox="1"/>
          <p:nvPr/>
        </p:nvSpPr>
        <p:spPr>
          <a:xfrm>
            <a:off x="6492240" y="4480560"/>
            <a:ext cx="4937760" cy="640080"/>
          </a:xfrm>
          <a:prstGeom prst="rect">
            <a:avLst/>
          </a:prstGeom>
          <a:noFill/>
          <a:ln/>
        </p:spPr>
        <p:txBody>
          <a:bodyPr wrap="square" lIns="0" tIns="0" rIns="0" bIns="0" rtlCol="0" anchor="t"/>
          <a:lstStyle/>
          <a:p>
            <a:pPr algn="l" indent="0" marL="0">
              <a:buNone/>
            </a:pPr>
            <a:r>
              <a:rPr lang="en-US" sz="1500" b="1" dirty="0">
                <a:solidFill>
                  <a:srgbClr val="0B1F3A"/>
                </a:solidFill>
                <a:latin typeface="Calibri" pitchFamily="34" charset="0"/>
                <a:ea typeface="Calibri" pitchFamily="34" charset="-122"/>
                <a:cs typeface="Calibri" pitchFamily="34" charset="-120"/>
              </a:rPr>
              <a:t>4 / 5 marks: </a:t>
            </a:r>
            <a:pPr algn="l" indent="0" marL="0">
              <a:buNone/>
            </a:pPr>
            <a:r>
              <a:rPr lang="en-US" sz="1500" dirty="0">
                <a:solidFill>
                  <a:srgbClr val="1F2937"/>
                </a:solidFill>
                <a:latin typeface="Calibri" pitchFamily="34" charset="0"/>
                <a:ea typeface="Calibri" pitchFamily="34" charset="-122"/>
                <a:cs typeface="Calibri" pitchFamily="34" charset="-120"/>
              </a:rPr>
              <a:t>the answer covers the main concept but omits one required detail.</a:t>
            </a:r>
            <a:endParaRPr lang="en-US" sz="1500" dirty="0"/>
          </a:p>
        </p:txBody>
      </p:sp>
      <p:sp>
        <p:nvSpPr>
          <p:cNvPr id="33" name="Text 31"/>
          <p:cNvSpPr txBox="1"/>
          <p:nvPr/>
        </p:nvSpPr>
        <p:spPr>
          <a:xfrm>
            <a:off x="6492240" y="5212080"/>
            <a:ext cx="4937760" cy="274320"/>
          </a:xfrm>
          <a:prstGeom prst="rect">
            <a:avLst/>
          </a:prstGeom>
          <a:noFill/>
          <a:ln/>
        </p:spPr>
        <p:txBody>
          <a:bodyPr wrap="square" lIns="0" tIns="0" rIns="0" bIns="0" rtlCol="0" anchor="t"/>
          <a:lstStyle/>
          <a:p>
            <a:pPr algn="l" indent="0" marL="0">
              <a:buNone/>
            </a:pPr>
            <a:r>
              <a:rPr lang="en-US" sz="1250" dirty="0">
                <a:solidFill>
                  <a:srgbClr val="5B6577"/>
                </a:solidFill>
                <a:latin typeface="Calibri" pitchFamily="34" charset="0"/>
                <a:ea typeface="Calibri" pitchFamily="34" charset="-122"/>
                <a:cs typeface="Calibri" pitchFamily="34" charset="-120"/>
              </a:rPr>
              <a:t>Missing concept: the omitted detail</a:t>
            </a:r>
            <a:endParaRPr lang="en-US" sz="1250" dirty="0"/>
          </a:p>
        </p:txBody>
      </p:sp>
      <p:sp>
        <p:nvSpPr>
          <p:cNvPr id="34" name="Text 32"/>
          <p:cNvSpPr/>
          <p:nvPr/>
        </p:nvSpPr>
        <p:spPr>
          <a:xfrm>
            <a:off x="548640" y="5715000"/>
            <a:ext cx="11064240" cy="594360"/>
          </a:xfrm>
          <a:prstGeom prst="roundRect">
            <a:avLst>
              <a:gd name="adj" fmla="val 12308"/>
            </a:avLst>
          </a:prstGeom>
          <a:solidFill>
            <a:srgbClr val="FFF4D6"/>
          </a:solidFill>
          <a:ln w="12700">
            <a:solidFill>
              <a:srgbClr val="E0A100"/>
            </a:solidFill>
          </a:ln>
        </p:spPr>
        <p:txBody>
          <a:bodyPr wrap="square" lIns="152400" tIns="152400" rIns="152400" bIns="152400" rtlCol="0" anchor="ctr"/>
          <a:lstStyle/>
          <a:p>
            <a:pPr algn="l" indent="0" marL="0">
              <a:buNone/>
            </a:pPr>
            <a:r>
              <a:rPr lang="en-US" sz="1300" b="1" dirty="0">
                <a:solidFill>
                  <a:srgbClr val="8A6500"/>
                </a:solidFill>
                <a:latin typeface="Calibri" pitchFamily="34" charset="0"/>
                <a:ea typeface="Calibri" pitchFamily="34" charset="-122"/>
                <a:cs typeface="Calibri" pitchFamily="34" charset="-120"/>
              </a:rPr>
              <a:t>Status: </a:t>
            </a:r>
            <a:pPr algn="l" indent="0" marL="0">
              <a:buNone/>
            </a:pPr>
            <a:r>
              <a:rPr lang="en-US" sz="1300" dirty="0">
                <a:solidFill>
                  <a:srgbClr val="1F2937"/>
                </a:solidFill>
                <a:latin typeface="Calibri" pitchFamily="34" charset="0"/>
                <a:ea typeface="Calibri" pitchFamily="34" charset="-122"/>
                <a:cs typeface="Calibri" pitchFamily="34" charset="-120"/>
              </a:rPr>
              <a:t>A basic evaluator was reported in the project; full integration with mapped answers and teacher knowledge remains unverified.</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rgbClr val="0B1F3A"/>
                </a:solidFill>
                <a:latin typeface="Calibri" pitchFamily="34" charset="0"/>
                <a:ea typeface="Calibri" pitchFamily="34" charset="-122"/>
                <a:cs typeface="Calibri" pitchFamily="34" charset="-120"/>
              </a:rPr>
              <a:t>End-to-End Workflow and Reliability</a:t>
            </a:r>
            <a:endParaRPr lang="en-US" sz="2800" dirty="0"/>
          </a:p>
        </p:txBody>
      </p:sp>
      <p:sp>
        <p:nvSpPr>
          <p:cNvPr id="3" name="Shape 1"/>
          <p:cNvSpPr/>
          <p:nvPr/>
        </p:nvSpPr>
        <p:spPr>
          <a:xfrm>
            <a:off x="6172200" y="6510528"/>
            <a:ext cx="128016" cy="128016"/>
          </a:xfrm>
          <a:prstGeom prst="ellipse">
            <a:avLst/>
          </a:prstGeom>
          <a:solidFill>
            <a:srgbClr val="2E9E5B"/>
          </a:solidFill>
          <a:ln/>
        </p:spPr>
      </p:sp>
      <p:sp>
        <p:nvSpPr>
          <p:cNvPr id="4" name="Text 2"/>
          <p:cNvSpPr txBox="1"/>
          <p:nvPr/>
        </p:nvSpPr>
        <p:spPr>
          <a:xfrm>
            <a:off x="6373368" y="6446520"/>
            <a:ext cx="8229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Reported</a:t>
            </a:r>
            <a:endParaRPr lang="en-US" sz="1100" dirty="0"/>
          </a:p>
        </p:txBody>
      </p:sp>
      <p:sp>
        <p:nvSpPr>
          <p:cNvPr id="5" name="Shape 3"/>
          <p:cNvSpPr/>
          <p:nvPr/>
        </p:nvSpPr>
        <p:spPr>
          <a:xfrm>
            <a:off x="7315200" y="6510528"/>
            <a:ext cx="128016" cy="128016"/>
          </a:xfrm>
          <a:prstGeom prst="ellipse">
            <a:avLst/>
          </a:prstGeom>
          <a:solidFill>
            <a:srgbClr val="E0A100"/>
          </a:solidFill>
          <a:ln/>
        </p:spPr>
      </p:sp>
      <p:sp>
        <p:nvSpPr>
          <p:cNvPr id="6" name="Text 4"/>
          <p:cNvSpPr txBox="1"/>
          <p:nvPr/>
        </p:nvSpPr>
        <p:spPr>
          <a:xfrm>
            <a:off x="7516368" y="6446520"/>
            <a:ext cx="146304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Pending verification</a:t>
            </a:r>
            <a:endParaRPr lang="en-US" sz="1100" dirty="0"/>
          </a:p>
        </p:txBody>
      </p:sp>
      <p:sp>
        <p:nvSpPr>
          <p:cNvPr id="7" name="Shape 5"/>
          <p:cNvSpPr/>
          <p:nvPr/>
        </p:nvSpPr>
        <p:spPr>
          <a:xfrm>
            <a:off x="9235440" y="6492240"/>
            <a:ext cx="274320" cy="164592"/>
          </a:xfrm>
          <a:prstGeom prst="roundRect">
            <a:avLst/>
          </a:prstGeom>
          <a:solidFill>
            <a:srgbClr val="FFFFFF"/>
          </a:solidFill>
          <a:ln w="15875">
            <a:solidFill>
              <a:srgbClr val="6D5BD0"/>
            </a:solidFill>
            <a:prstDash val="dash"/>
          </a:ln>
        </p:spPr>
      </p:sp>
      <p:sp>
        <p:nvSpPr>
          <p:cNvPr id="8" name="Text 6"/>
          <p:cNvSpPr txBox="1"/>
          <p:nvPr/>
        </p:nvSpPr>
        <p:spPr>
          <a:xfrm>
            <a:off x="9601200" y="6446520"/>
            <a:ext cx="17373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Planned / not confirmed</a:t>
            </a:r>
            <a:endParaRPr lang="en-US" sz="1100" dirty="0"/>
          </a:p>
        </p:txBody>
      </p:sp>
      <p:sp>
        <p:nvSpPr>
          <p:cNvPr id="9" name="Box: "/>
          <p:cNvSpPr/>
          <p:nvPr/>
        </p:nvSpPr>
        <p:spPr>
          <a:xfrm>
            <a:off x="548640" y="1097280"/>
            <a:ext cx="5349240" cy="3429000"/>
          </a:xfrm>
          <a:prstGeom prst="rect">
            <a:avLst>
              <a:gd name="adj" fmla="val 2133"/>
            </a:avLst>
          </a:prstGeom>
          <a:solidFill>
            <a:srgbClr val="FFFFFF"/>
          </a:solidFill>
          <a:ln w="12700">
            <a:solidFill>
              <a:srgbClr val="CBD2DC"/>
            </a:solidFill>
          </a:ln>
        </p:spPr>
        <p:txBody>
          <a:bodyPr wrap="square" lIns="76200" tIns="76200" rIns="76200" bIns="76200" rtlCol="0" anchor="ctr"/>
          <a:lstStyle/>
          <a:p>
            <a:pPr algn="ctr" indent="0" marL="0">
              <a:buNone/>
            </a:pPr>
            <a:endParaRPr lang="en-US" sz="1300" dirty="0"/>
          </a:p>
        </p:txBody>
      </p:sp>
      <p:sp>
        <p:nvSpPr>
          <p:cNvPr id="10" name="Box: TEACHER SETUP"/>
          <p:cNvSpPr/>
          <p:nvPr/>
        </p:nvSpPr>
        <p:spPr>
          <a:xfrm>
            <a:off x="731520" y="1234440"/>
            <a:ext cx="1737360" cy="329184"/>
          </a:xfrm>
          <a:prstGeom prst="roundRect">
            <a:avLst>
              <a:gd name="adj" fmla="val 22222"/>
            </a:avLst>
          </a:prstGeom>
          <a:solidFill>
            <a:srgbClr val="E4F4EA"/>
          </a:solidFill>
          <a:ln w="12700">
            <a:solidFill>
              <a:srgbClr val="2E9E5B"/>
            </a:solidFill>
          </a:ln>
        </p:spPr>
        <p:txBody>
          <a:bodyPr wrap="square" lIns="25400" tIns="25400" rIns="25400" bIns="25400" rtlCol="0" anchor="ctr"/>
          <a:lstStyle/>
          <a:p>
            <a:pPr algn="ctr" indent="0" marL="0">
              <a:buNone/>
            </a:pPr>
            <a:r>
              <a:rPr lang="en-US" sz="1200" b="1" dirty="0">
                <a:solidFill>
                  <a:srgbClr val="2E9E5B"/>
                </a:solidFill>
                <a:latin typeface="Calibri" pitchFamily="34" charset="0"/>
                <a:ea typeface="Calibri" pitchFamily="34" charset="-122"/>
                <a:cs typeface="Calibri" pitchFamily="34" charset="-120"/>
              </a:rPr>
              <a:t>TEACHER SETUP</a:t>
            </a:r>
            <a:endParaRPr lang="en-US" sz="1200" dirty="0"/>
          </a:p>
        </p:txBody>
      </p:sp>
      <p:sp>
        <p:nvSpPr>
          <p:cNvPr id="11" name="Text 9"/>
          <p:cNvSpPr txBox="1"/>
          <p:nvPr/>
        </p:nvSpPr>
        <p:spPr>
          <a:xfrm>
            <a:off x="731520" y="1783080"/>
            <a:ext cx="4937760" cy="2103120"/>
          </a:xfrm>
          <a:prstGeom prst="rect">
            <a:avLst/>
          </a:prstGeom>
          <a:noFill/>
          <a:ln/>
        </p:spPr>
        <p:txBody>
          <a:bodyPr wrap="square" lIns="0" tIns="0" rIns="0" bIns="0" rtlCol="0" anchor="t"/>
          <a:lstStyle/>
          <a:p>
            <a:pPr algn="l" indent="0" marL="0">
              <a:spcAft>
                <a:spcPts val="1200"/>
              </a:spcAft>
              <a:buNone/>
            </a:pPr>
            <a:r>
              <a:rPr lang="en-US" sz="1650" dirty="0">
                <a:solidFill>
                  <a:srgbClr val="1F2937"/>
                </a:solidFill>
                <a:latin typeface="Calibri" pitchFamily="34" charset="0"/>
                <a:ea typeface="Calibri" pitchFamily="34" charset="-122"/>
                <a:cs typeface="Calibri" pitchFamily="34" charset="-120"/>
              </a:rPr>
              <a:t>1.  Upload question paper, model answer, and rubric.</a:t>
            </a:r>
            <a:endParaRPr lang="en-US" sz="1650" dirty="0"/>
          </a:p>
          <a:p>
            <a:pPr algn="l" indent="0" marL="0">
              <a:spcAft>
                <a:spcPts val="1200"/>
              </a:spcAft>
              <a:buNone/>
            </a:pPr>
            <a:r>
              <a:rPr lang="en-US" sz="1650" dirty="0">
                <a:solidFill>
                  <a:srgbClr val="1F2937"/>
                </a:solidFill>
                <a:latin typeface="Calibri" pitchFamily="34" charset="0"/>
                <a:ea typeface="Calibri" pitchFamily="34" charset="-122"/>
                <a:cs typeface="Calibri" pitchFamily="34" charset="-120"/>
              </a:rPr>
              <a:t>2.  Extract and parse the content.</a:t>
            </a:r>
            <a:endParaRPr lang="en-US" sz="1650" dirty="0"/>
          </a:p>
          <a:p>
            <a:pPr algn="l" indent="0" marL="0">
              <a:spcAft>
                <a:spcPts val="1200"/>
              </a:spcAft>
              <a:buNone/>
            </a:pPr>
            <a:r>
              <a:rPr lang="en-US" sz="1650" dirty="0">
                <a:solidFill>
                  <a:srgbClr val="1F2937"/>
                </a:solidFill>
                <a:latin typeface="Calibri" pitchFamily="34" charset="0"/>
                <a:ea typeface="Calibri" pitchFamily="34" charset="-122"/>
                <a:cs typeface="Calibri" pitchFamily="34" charset="-120"/>
              </a:rPr>
              <a:t>3.  Store structured records.</a:t>
            </a:r>
            <a:endParaRPr lang="en-US" sz="1650" dirty="0"/>
          </a:p>
          <a:p>
            <a:pPr algn="l" indent="0" marL="0">
              <a:spcAft>
                <a:spcPts val="1200"/>
              </a:spcAft>
              <a:buNone/>
            </a:pPr>
            <a:r>
              <a:rPr lang="en-US" sz="1650" dirty="0">
                <a:solidFill>
                  <a:srgbClr val="1F2937"/>
                </a:solidFill>
                <a:latin typeface="Calibri" pitchFamily="34" charset="0"/>
                <a:ea typeface="Calibri" pitchFamily="34" charset="-122"/>
                <a:cs typeface="Calibri" pitchFamily="34" charset="-120"/>
              </a:rPr>
              <a:t>4.  Generate embeddings and persist semantic chunks.</a:t>
            </a:r>
            <a:endParaRPr lang="en-US" sz="1650" dirty="0"/>
          </a:p>
        </p:txBody>
      </p:sp>
      <p:sp>
        <p:nvSpPr>
          <p:cNvPr id="12" name="Text 10"/>
          <p:cNvSpPr txBox="1"/>
          <p:nvPr/>
        </p:nvSpPr>
        <p:spPr>
          <a:xfrm>
            <a:off x="731520" y="3977640"/>
            <a:ext cx="4937760" cy="411480"/>
          </a:xfrm>
          <a:prstGeom prst="rect">
            <a:avLst/>
          </a:prstGeom>
          <a:noFill/>
          <a:ln/>
        </p:spPr>
        <p:txBody>
          <a:bodyPr wrap="square" lIns="0" tIns="0" rIns="0" bIns="0" rtlCol="0" anchor="t"/>
          <a:lstStyle/>
          <a:p>
            <a:pPr algn="l" indent="0" marL="0">
              <a:buNone/>
            </a:pPr>
            <a:r>
              <a:rPr lang="en-US" sz="1250" i="1" dirty="0">
                <a:solidFill>
                  <a:srgbClr val="8A6500"/>
                </a:solidFill>
                <a:latin typeface="Calibri" pitchFamily="34" charset="0"/>
                <a:ea typeface="Calibri" pitchFamily="34" charset="-122"/>
                <a:cs typeface="Calibri" pitchFamily="34" charset="-120"/>
              </a:rPr>
              <a:t>Reported in Phase 2; persistence still to be verified.</a:t>
            </a:r>
            <a:endParaRPr lang="en-US" sz="1250" dirty="0"/>
          </a:p>
        </p:txBody>
      </p:sp>
      <p:sp>
        <p:nvSpPr>
          <p:cNvPr id="13" name="Arrow"/>
          <p:cNvSpPr/>
          <p:nvPr/>
        </p:nvSpPr>
        <p:spPr>
          <a:xfrm>
            <a:off x="5916168" y="2788920"/>
            <a:ext cx="329184" cy="0"/>
          </a:xfrm>
          <a:prstGeom prst="line">
            <a:avLst/>
          </a:prstGeom>
          <a:noFill/>
          <a:ln w="22225">
            <a:solidFill>
              <a:srgbClr val="5B6577"/>
            </a:solidFill>
            <a:prstDash val="solid"/>
            <a:tailEnd type="triangle"/>
          </a:ln>
        </p:spPr>
      </p:sp>
      <p:sp>
        <p:nvSpPr>
          <p:cNvPr id="14" name="Box: "/>
          <p:cNvSpPr/>
          <p:nvPr/>
        </p:nvSpPr>
        <p:spPr>
          <a:xfrm>
            <a:off x="6263640" y="1097280"/>
            <a:ext cx="5349240" cy="3429000"/>
          </a:xfrm>
          <a:prstGeom prst="rect">
            <a:avLst>
              <a:gd name="adj" fmla="val 2133"/>
            </a:avLst>
          </a:prstGeom>
          <a:solidFill>
            <a:srgbClr val="FFFFFF"/>
          </a:solidFill>
          <a:ln w="19050">
            <a:solidFill>
              <a:srgbClr val="6D5BD0"/>
            </a:solidFill>
            <a:prstDash val="dash"/>
          </a:ln>
        </p:spPr>
        <p:txBody>
          <a:bodyPr wrap="square" lIns="76200" tIns="76200" rIns="76200" bIns="76200" rtlCol="0" anchor="ctr"/>
          <a:lstStyle/>
          <a:p>
            <a:pPr algn="ctr" indent="0" marL="0">
              <a:buNone/>
            </a:pPr>
            <a:endParaRPr lang="en-US" sz="1300" dirty="0"/>
          </a:p>
        </p:txBody>
      </p:sp>
      <p:sp>
        <p:nvSpPr>
          <p:cNvPr id="15" name="Box: STUDENT ASSESSMENT"/>
          <p:cNvSpPr/>
          <p:nvPr/>
        </p:nvSpPr>
        <p:spPr>
          <a:xfrm>
            <a:off x="6446520" y="1234440"/>
            <a:ext cx="2194560" cy="329184"/>
          </a:xfrm>
          <a:prstGeom prst="roundRect">
            <a:avLst>
              <a:gd name="adj" fmla="val 22222"/>
            </a:avLst>
          </a:prstGeom>
          <a:solidFill>
            <a:srgbClr val="ECE9FA"/>
          </a:solidFill>
          <a:ln w="19050">
            <a:solidFill>
              <a:srgbClr val="6D5BD0"/>
            </a:solidFill>
            <a:prstDash val="dash"/>
          </a:ln>
        </p:spPr>
        <p:txBody>
          <a:bodyPr wrap="square" lIns="25400" tIns="25400" rIns="25400" bIns="25400" rtlCol="0" anchor="ctr"/>
          <a:lstStyle/>
          <a:p>
            <a:pPr algn="ctr" indent="0" marL="0">
              <a:buNone/>
            </a:pPr>
            <a:r>
              <a:rPr lang="en-US" sz="1200" b="1" dirty="0">
                <a:solidFill>
                  <a:srgbClr val="6D5BD0"/>
                </a:solidFill>
                <a:latin typeface="Calibri" pitchFamily="34" charset="0"/>
                <a:ea typeface="Calibri" pitchFamily="34" charset="-122"/>
                <a:cs typeface="Calibri" pitchFamily="34" charset="-120"/>
              </a:rPr>
              <a:t>STUDENT ASSESSMENT</a:t>
            </a:r>
            <a:endParaRPr lang="en-US" sz="1200" dirty="0"/>
          </a:p>
        </p:txBody>
      </p:sp>
      <p:sp>
        <p:nvSpPr>
          <p:cNvPr id="16" name="Text 14"/>
          <p:cNvSpPr txBox="1"/>
          <p:nvPr/>
        </p:nvSpPr>
        <p:spPr>
          <a:xfrm>
            <a:off x="6446520" y="1737360"/>
            <a:ext cx="5029200" cy="2286000"/>
          </a:xfrm>
          <a:prstGeom prst="rect">
            <a:avLst/>
          </a:prstGeom>
          <a:noFill/>
          <a:ln/>
        </p:spPr>
        <p:txBody>
          <a:bodyPr wrap="square" lIns="0" tIns="0" rIns="0" bIns="0" rtlCol="0" anchor="t"/>
          <a:lstStyle/>
          <a:p>
            <a:pPr algn="l" indent="0" marL="0">
              <a:spcAft>
                <a:spcPts val="700"/>
              </a:spcAft>
              <a:buNone/>
            </a:pPr>
            <a:r>
              <a:rPr lang="en-US" sz="1550" dirty="0">
                <a:solidFill>
                  <a:srgbClr val="1F2937"/>
                </a:solidFill>
                <a:latin typeface="Calibri" pitchFamily="34" charset="0"/>
                <a:ea typeface="Calibri" pitchFamily="34" charset="-122"/>
                <a:cs typeface="Calibri" pitchFamily="34" charset="-120"/>
              </a:rPr>
              <a:t>5.  Upload the answer sheet.</a:t>
            </a:r>
            <a:endParaRPr lang="en-US" sz="1550" dirty="0"/>
          </a:p>
          <a:p>
            <a:pPr algn="l" indent="0" marL="0">
              <a:spcAft>
                <a:spcPts val="700"/>
              </a:spcAft>
              <a:buNone/>
            </a:pPr>
            <a:r>
              <a:rPr lang="en-US" sz="1550" dirty="0">
                <a:solidFill>
                  <a:srgbClr val="1F2937"/>
                </a:solidFill>
                <a:latin typeface="Calibri" pitchFamily="34" charset="0"/>
                <a:ea typeface="Calibri" pitchFamily="34" charset="-122"/>
                <a:cs typeface="Calibri" pitchFamily="34" charset="-120"/>
              </a:rPr>
              <a:t>6.  Run the selected OCR engine (Phase 1, reported).</a:t>
            </a:r>
            <a:endParaRPr lang="en-US" sz="1550" dirty="0"/>
          </a:p>
          <a:p>
            <a:pPr algn="l" indent="0" marL="0">
              <a:spcAft>
                <a:spcPts val="700"/>
              </a:spcAft>
              <a:buNone/>
            </a:pPr>
            <a:r>
              <a:rPr lang="en-US" sz="1550" dirty="0">
                <a:solidFill>
                  <a:srgbClr val="1F2937"/>
                </a:solidFill>
                <a:latin typeface="Calibri" pitchFamily="34" charset="0"/>
                <a:ea typeface="Calibri" pitchFamily="34" charset="-122"/>
                <a:cs typeface="Calibri" pitchFamily="34" charset="-120"/>
              </a:rPr>
              <a:t>7.  Segment and map answers (planned).</a:t>
            </a:r>
            <a:endParaRPr lang="en-US" sz="1550" dirty="0"/>
          </a:p>
          <a:p>
            <a:pPr algn="l" indent="0" marL="0">
              <a:spcAft>
                <a:spcPts val="700"/>
              </a:spcAft>
              <a:buNone/>
            </a:pPr>
            <a:r>
              <a:rPr lang="en-US" sz="1550" dirty="0">
                <a:solidFill>
                  <a:srgbClr val="1F2937"/>
                </a:solidFill>
                <a:latin typeface="Calibri" pitchFamily="34" charset="0"/>
                <a:ea typeface="Calibri" pitchFamily="34" charset="-122"/>
                <a:cs typeface="Calibri" pitchFamily="34" charset="-120"/>
              </a:rPr>
              <a:t>8.  Load the correct teacher question and marking criteria (planned).</a:t>
            </a:r>
            <a:endParaRPr lang="en-US" sz="1550" dirty="0"/>
          </a:p>
          <a:p>
            <a:pPr algn="l" indent="0" marL="0">
              <a:spcAft>
                <a:spcPts val="700"/>
              </a:spcAft>
              <a:buNone/>
            </a:pPr>
            <a:r>
              <a:rPr lang="en-US" sz="1550" dirty="0">
                <a:solidFill>
                  <a:srgbClr val="1F2937"/>
                </a:solidFill>
                <a:latin typeface="Calibri" pitchFamily="34" charset="0"/>
                <a:ea typeface="Calibri" pitchFamily="34" charset="-122"/>
                <a:cs typeface="Calibri" pitchFamily="34" charset="-120"/>
              </a:rPr>
              <a:t>9.  Evaluate, validate, and store results (planned).</a:t>
            </a:r>
            <a:endParaRPr lang="en-US" sz="1550" dirty="0"/>
          </a:p>
          <a:p>
            <a:pPr algn="l" indent="0" marL="0">
              <a:spcAft>
                <a:spcPts val="700"/>
              </a:spcAft>
              <a:buNone/>
            </a:pPr>
            <a:r>
              <a:rPr lang="en-US" sz="1550" dirty="0">
                <a:solidFill>
                  <a:srgbClr val="1F2937"/>
                </a:solidFill>
                <a:latin typeface="Calibri" pitchFamily="34" charset="0"/>
                <a:ea typeface="Calibri" pitchFamily="34" charset="-122"/>
                <a:cs typeface="Calibri" pitchFamily="34" charset="-120"/>
              </a:rPr>
              <a:t>10.  Present marks and feedback for review (planned).</a:t>
            </a:r>
            <a:endParaRPr lang="en-US" sz="1550" dirty="0"/>
          </a:p>
        </p:txBody>
      </p:sp>
      <p:sp>
        <p:nvSpPr>
          <p:cNvPr id="17" name="Text 15"/>
          <p:cNvSpPr txBox="1"/>
          <p:nvPr/>
        </p:nvSpPr>
        <p:spPr>
          <a:xfrm>
            <a:off x="6446520" y="4023360"/>
            <a:ext cx="5029200" cy="411480"/>
          </a:xfrm>
          <a:prstGeom prst="rect">
            <a:avLst/>
          </a:prstGeom>
          <a:noFill/>
          <a:ln/>
        </p:spPr>
        <p:txBody>
          <a:bodyPr wrap="square" lIns="0" tIns="0" rIns="0" bIns="0" rtlCol="0" anchor="t"/>
          <a:lstStyle/>
          <a:p>
            <a:pPr algn="l" indent="0" marL="0">
              <a:buNone/>
            </a:pPr>
            <a:r>
              <a:rPr lang="en-US" sz="1250" i="1" dirty="0">
                <a:solidFill>
                  <a:srgbClr val="6D5BD0"/>
                </a:solidFill>
                <a:latin typeface="Calibri" pitchFamily="34" charset="0"/>
                <a:ea typeface="Calibri" pitchFamily="34" charset="-122"/>
                <a:cs typeface="Calibri" pitchFamily="34" charset="-120"/>
              </a:rPr>
              <a:t>Steps 7–10 are planned / completion not confirmed.</a:t>
            </a:r>
            <a:endParaRPr lang="en-US" sz="1250" dirty="0"/>
          </a:p>
        </p:txBody>
      </p:sp>
      <p:sp>
        <p:nvSpPr>
          <p:cNvPr id="18" name="Text 16"/>
          <p:cNvSpPr txBox="1"/>
          <p:nvPr/>
        </p:nvSpPr>
        <p:spPr>
          <a:xfrm>
            <a:off x="548640" y="4709160"/>
            <a:ext cx="4572000" cy="228600"/>
          </a:xfrm>
          <a:prstGeom prst="rect">
            <a:avLst/>
          </a:prstGeom>
          <a:noFill/>
          <a:ln/>
        </p:spPr>
        <p:txBody>
          <a:bodyPr wrap="square" lIns="0" tIns="0" rIns="0" bIns="0" rtlCol="0" anchor="t"/>
          <a:lstStyle/>
          <a:p>
            <a:pPr algn="l" indent="0" marL="0">
              <a:buNone/>
            </a:pPr>
            <a:r>
              <a:rPr lang="en-US" sz="1100" b="1" spc="200" kern="0" dirty="0">
                <a:solidFill>
                  <a:srgbClr val="0B1F3A"/>
                </a:solidFill>
                <a:latin typeface="Calibri" pitchFamily="34" charset="0"/>
                <a:ea typeface="Calibri" pitchFamily="34" charset="-122"/>
                <a:cs typeface="Calibri" pitchFamily="34" charset="-120"/>
              </a:rPr>
              <a:t>RELIABILITY REQUIREMENTS</a:t>
            </a:r>
            <a:endParaRPr lang="en-US" sz="1100" dirty="0"/>
          </a:p>
        </p:txBody>
      </p:sp>
      <p:sp>
        <p:nvSpPr>
          <p:cNvPr id="19" name="Box: Persistence across application"/>
          <p:cNvSpPr/>
          <p:nvPr/>
        </p:nvSpPr>
        <p:spPr>
          <a:xfrm>
            <a:off x="548640" y="4983480"/>
            <a:ext cx="2103120" cy="1280160"/>
          </a:xfrm>
          <a:prstGeom prst="roundRect">
            <a:avLst>
              <a:gd name="adj" fmla="val 5714"/>
            </a:avLst>
          </a:prstGeom>
          <a:solidFill>
            <a:srgbClr val="0B1F3A"/>
          </a:solidFill>
          <a:ln w="12700">
            <a:solidFill>
              <a:srgbClr val="0B1F3A"/>
            </a:solidFill>
          </a:ln>
        </p:spPr>
        <p:txBody>
          <a:bodyPr wrap="square" lIns="127000" tIns="127000" rIns="127000" bIns="1270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Persistence across application restarts</a:t>
            </a:r>
            <a:endParaRPr lang="en-US" sz="1400" dirty="0"/>
          </a:p>
        </p:txBody>
      </p:sp>
      <p:sp>
        <p:nvSpPr>
          <p:cNvPr id="20" name="Box: No silent OCR engine switching"/>
          <p:cNvSpPr/>
          <p:nvPr/>
        </p:nvSpPr>
        <p:spPr>
          <a:xfrm>
            <a:off x="2788920" y="4983480"/>
            <a:ext cx="2103120" cy="1280160"/>
          </a:xfrm>
          <a:prstGeom prst="roundRect">
            <a:avLst>
              <a:gd name="adj" fmla="val 5714"/>
            </a:avLst>
          </a:prstGeom>
          <a:solidFill>
            <a:srgbClr val="0B1F3A"/>
          </a:solidFill>
          <a:ln w="12700">
            <a:solidFill>
              <a:srgbClr val="0B1F3A"/>
            </a:solidFill>
          </a:ln>
        </p:spPr>
        <p:txBody>
          <a:bodyPr wrap="square" lIns="127000" tIns="127000" rIns="127000" bIns="1270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 silent OCR engine switching</a:t>
            </a:r>
            <a:endParaRPr lang="en-US" sz="1400" dirty="0"/>
          </a:p>
        </p:txBody>
      </p:sp>
      <p:sp>
        <p:nvSpPr>
          <p:cNvPr id="21" name="Box: Valid marks bounded by maximum"/>
          <p:cNvSpPr/>
          <p:nvPr/>
        </p:nvSpPr>
        <p:spPr>
          <a:xfrm>
            <a:off x="5029200" y="4983480"/>
            <a:ext cx="2103120" cy="1280160"/>
          </a:xfrm>
          <a:prstGeom prst="roundRect">
            <a:avLst>
              <a:gd name="adj" fmla="val 5714"/>
            </a:avLst>
          </a:prstGeom>
          <a:solidFill>
            <a:srgbClr val="0B1F3A"/>
          </a:solidFill>
          <a:ln w="12700">
            <a:solidFill>
              <a:srgbClr val="0B1F3A"/>
            </a:solidFill>
          </a:ln>
        </p:spPr>
        <p:txBody>
          <a:bodyPr wrap="square" lIns="127000" tIns="127000" rIns="127000" bIns="1270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Valid marks bounded by maximum marks</a:t>
            </a:r>
            <a:endParaRPr lang="en-US" sz="1400" dirty="0"/>
          </a:p>
        </p:txBody>
      </p:sp>
      <p:sp>
        <p:nvSpPr>
          <p:cNvPr id="22" name="Box: Traceable questions, submissio"/>
          <p:cNvSpPr/>
          <p:nvPr/>
        </p:nvSpPr>
        <p:spPr>
          <a:xfrm>
            <a:off x="7269480" y="4983480"/>
            <a:ext cx="2103120" cy="1280160"/>
          </a:xfrm>
          <a:prstGeom prst="roundRect">
            <a:avLst>
              <a:gd name="adj" fmla="val 5714"/>
            </a:avLst>
          </a:prstGeom>
          <a:solidFill>
            <a:srgbClr val="0B1F3A"/>
          </a:solidFill>
          <a:ln w="12700">
            <a:solidFill>
              <a:srgbClr val="0B1F3A"/>
            </a:solidFill>
          </a:ln>
        </p:spPr>
        <p:txBody>
          <a:bodyPr wrap="square" lIns="127000" tIns="127000" rIns="127000" bIns="1270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Traceable questions, submissions, and evaluation results</a:t>
            </a:r>
            <a:endParaRPr lang="en-US" sz="1400" dirty="0"/>
          </a:p>
        </p:txBody>
      </p:sp>
      <p:sp>
        <p:nvSpPr>
          <p:cNvPr id="23" name="Box: Human review for uncertain map"/>
          <p:cNvSpPr/>
          <p:nvPr/>
        </p:nvSpPr>
        <p:spPr>
          <a:xfrm>
            <a:off x="9509760" y="4983480"/>
            <a:ext cx="2103120" cy="1280160"/>
          </a:xfrm>
          <a:prstGeom prst="roundRect">
            <a:avLst>
              <a:gd name="adj" fmla="val 5714"/>
            </a:avLst>
          </a:prstGeom>
          <a:solidFill>
            <a:srgbClr val="0B1F3A"/>
          </a:solidFill>
          <a:ln w="12700">
            <a:solidFill>
              <a:srgbClr val="0B1F3A"/>
            </a:solidFill>
          </a:ln>
        </p:spPr>
        <p:txBody>
          <a:bodyPr wrap="square" lIns="127000" tIns="127000" rIns="127000" bIns="1270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Human review for uncertain mappings or evaluations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64240" cy="685800"/>
          </a:xfrm>
          <a:prstGeom prst="rect">
            <a:avLst/>
          </a:prstGeom>
          <a:noFill/>
          <a:ln/>
        </p:spPr>
        <p:txBody>
          <a:bodyPr wrap="square" lIns="0" tIns="0" rIns="0" bIns="0" rtlCol="0" anchor="ctr"/>
          <a:lstStyle/>
          <a:p>
            <a:pPr algn="l" indent="0" marL="0">
              <a:buNone/>
            </a:pPr>
            <a:r>
              <a:rPr lang="en-US" sz="2800" b="1" dirty="0">
                <a:solidFill>
                  <a:srgbClr val="0B1F3A"/>
                </a:solidFill>
                <a:latin typeface="Calibri" pitchFamily="34" charset="0"/>
                <a:ea typeface="Calibri" pitchFamily="34" charset="-122"/>
                <a:cs typeface="Calibri" pitchFamily="34" charset="-120"/>
              </a:rPr>
              <a:t>Current Status and Next Steps</a:t>
            </a:r>
            <a:endParaRPr lang="en-US" sz="2800" dirty="0"/>
          </a:p>
        </p:txBody>
      </p:sp>
      <p:sp>
        <p:nvSpPr>
          <p:cNvPr id="3" name="Shape 1"/>
          <p:cNvSpPr/>
          <p:nvPr/>
        </p:nvSpPr>
        <p:spPr>
          <a:xfrm>
            <a:off x="6172200" y="6510528"/>
            <a:ext cx="128016" cy="128016"/>
          </a:xfrm>
          <a:prstGeom prst="ellipse">
            <a:avLst/>
          </a:prstGeom>
          <a:solidFill>
            <a:srgbClr val="2E9E5B"/>
          </a:solidFill>
          <a:ln/>
        </p:spPr>
      </p:sp>
      <p:sp>
        <p:nvSpPr>
          <p:cNvPr id="4" name="Text 2"/>
          <p:cNvSpPr txBox="1"/>
          <p:nvPr/>
        </p:nvSpPr>
        <p:spPr>
          <a:xfrm>
            <a:off x="6373368" y="6446520"/>
            <a:ext cx="8229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Reported</a:t>
            </a:r>
            <a:endParaRPr lang="en-US" sz="1100" dirty="0"/>
          </a:p>
        </p:txBody>
      </p:sp>
      <p:sp>
        <p:nvSpPr>
          <p:cNvPr id="5" name="Shape 3"/>
          <p:cNvSpPr/>
          <p:nvPr/>
        </p:nvSpPr>
        <p:spPr>
          <a:xfrm>
            <a:off x="7315200" y="6510528"/>
            <a:ext cx="128016" cy="128016"/>
          </a:xfrm>
          <a:prstGeom prst="ellipse">
            <a:avLst/>
          </a:prstGeom>
          <a:solidFill>
            <a:srgbClr val="E0A100"/>
          </a:solidFill>
          <a:ln/>
        </p:spPr>
      </p:sp>
      <p:sp>
        <p:nvSpPr>
          <p:cNvPr id="6" name="Text 4"/>
          <p:cNvSpPr txBox="1"/>
          <p:nvPr/>
        </p:nvSpPr>
        <p:spPr>
          <a:xfrm>
            <a:off x="7516368" y="6446520"/>
            <a:ext cx="146304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Pending verification</a:t>
            </a:r>
            <a:endParaRPr lang="en-US" sz="1100" dirty="0"/>
          </a:p>
        </p:txBody>
      </p:sp>
      <p:sp>
        <p:nvSpPr>
          <p:cNvPr id="7" name="Shape 5"/>
          <p:cNvSpPr/>
          <p:nvPr/>
        </p:nvSpPr>
        <p:spPr>
          <a:xfrm>
            <a:off x="9235440" y="6492240"/>
            <a:ext cx="274320" cy="164592"/>
          </a:xfrm>
          <a:prstGeom prst="roundRect">
            <a:avLst/>
          </a:prstGeom>
          <a:solidFill>
            <a:srgbClr val="FFFFFF"/>
          </a:solidFill>
          <a:ln w="15875">
            <a:solidFill>
              <a:srgbClr val="6D5BD0"/>
            </a:solidFill>
            <a:prstDash val="dash"/>
          </a:ln>
        </p:spPr>
      </p:sp>
      <p:sp>
        <p:nvSpPr>
          <p:cNvPr id="8" name="Text 6"/>
          <p:cNvSpPr txBox="1"/>
          <p:nvPr/>
        </p:nvSpPr>
        <p:spPr>
          <a:xfrm>
            <a:off x="9601200" y="6446520"/>
            <a:ext cx="1737360" cy="274320"/>
          </a:xfrm>
          <a:prstGeom prst="rect">
            <a:avLst/>
          </a:prstGeom>
          <a:noFill/>
          <a:ln/>
        </p:spPr>
        <p:txBody>
          <a:bodyPr wrap="square" lIns="0" tIns="0" rIns="0" bIns="0" rtlCol="0" anchor="ctr"/>
          <a:lstStyle/>
          <a:p>
            <a:pPr algn="l" indent="0" marL="0">
              <a:buNone/>
            </a:pPr>
            <a:r>
              <a:rPr lang="en-US" sz="1100" dirty="0">
                <a:solidFill>
                  <a:srgbClr val="5B6577"/>
                </a:solidFill>
                <a:latin typeface="Calibri" pitchFamily="34" charset="0"/>
                <a:ea typeface="Calibri" pitchFamily="34" charset="-122"/>
                <a:cs typeface="Calibri" pitchFamily="34" charset="-120"/>
              </a:rPr>
              <a:t>Planned / not confirmed</a:t>
            </a:r>
            <a:endParaRPr lang="en-US" sz="1100" dirty="0"/>
          </a:p>
        </p:txBody>
      </p:sp>
      <p:sp>
        <p:nvSpPr>
          <p:cNvPr id="9" name="Text 7"/>
          <p:cNvSpPr txBox="1"/>
          <p:nvPr/>
        </p:nvSpPr>
        <p:spPr>
          <a:xfrm>
            <a:off x="548640" y="1005840"/>
            <a:ext cx="11064240" cy="320040"/>
          </a:xfrm>
          <a:prstGeom prst="rect">
            <a:avLst/>
          </a:prstGeom>
          <a:noFill/>
          <a:ln/>
        </p:spPr>
        <p:txBody>
          <a:bodyPr wrap="square" lIns="0" tIns="0" rIns="0" bIns="0" rtlCol="0" anchor="t"/>
          <a:lstStyle/>
          <a:p>
            <a:pPr algn="l" indent="0" marL="0">
              <a:buNone/>
            </a:pPr>
            <a:r>
              <a:rPr lang="en-US" sz="1300" i="1" dirty="0">
                <a:solidFill>
                  <a:srgbClr val="5B6577"/>
                </a:solidFill>
                <a:latin typeface="Calibri" pitchFamily="34" charset="0"/>
                <a:ea typeface="Calibri" pitchFamily="34" charset="-122"/>
                <a:cs typeface="Calibri" pitchFamily="34" charset="-120"/>
              </a:rPr>
              <a:t>Status is based on the coding-agent report, not an independent code audit. No completion percentages or production-readiness claims are made.</a:t>
            </a:r>
            <a:endParaRPr lang="en-US" sz="1300" dirty="0"/>
          </a:p>
        </p:txBody>
      </p:sp>
      <p:sp>
        <p:nvSpPr>
          <p:cNvPr id="10" name="Box: Reported implementation"/>
          <p:cNvSpPr/>
          <p:nvPr/>
        </p:nvSpPr>
        <p:spPr>
          <a:xfrm>
            <a:off x="548640" y="1417320"/>
            <a:ext cx="3566160" cy="457200"/>
          </a:xfrm>
          <a:prstGeom prst="roundRect">
            <a:avLst>
              <a:gd name="adj" fmla="val 16000"/>
            </a:avLst>
          </a:prstGeom>
          <a:solidFill>
            <a:srgbClr val="E4F4EA"/>
          </a:solidFill>
          <a:ln w="12700">
            <a:solidFill>
              <a:srgbClr val="2E9E5B"/>
            </a:solidFill>
          </a:ln>
        </p:spPr>
        <p:txBody>
          <a:bodyPr wrap="square" lIns="25400" tIns="25400" rIns="25400" bIns="25400" rtlCol="0" anchor="ctr"/>
          <a:lstStyle/>
          <a:p>
            <a:pPr algn="ctr" indent="0" marL="0">
              <a:buNone/>
            </a:pPr>
            <a:r>
              <a:rPr lang="en-US" sz="1600" b="1" dirty="0">
                <a:solidFill>
                  <a:srgbClr val="2E9E5B"/>
                </a:solidFill>
                <a:latin typeface="Calibri" pitchFamily="34" charset="0"/>
                <a:ea typeface="Calibri" pitchFamily="34" charset="-122"/>
                <a:cs typeface="Calibri" pitchFamily="34" charset="-120"/>
              </a:rPr>
              <a:t>Reported implementation</a:t>
            </a:r>
            <a:endParaRPr lang="en-US" sz="1600" dirty="0"/>
          </a:p>
        </p:txBody>
      </p:sp>
      <p:sp>
        <p:nvSpPr>
          <p:cNvPr id="11" name="Box: "/>
          <p:cNvSpPr/>
          <p:nvPr/>
        </p:nvSpPr>
        <p:spPr>
          <a:xfrm>
            <a:off x="548640" y="1965960"/>
            <a:ext cx="3566160" cy="2697480"/>
          </a:xfrm>
          <a:prstGeom prst="rect">
            <a:avLst>
              <a:gd name="adj" fmla="val 2712"/>
            </a:avLst>
          </a:prstGeom>
          <a:solidFill>
            <a:srgbClr val="FFFFFF"/>
          </a:solidFill>
          <a:ln w="12700">
            <a:solidFill>
              <a:srgbClr val="CBD2DC"/>
            </a:solidFill>
          </a:ln>
        </p:spPr>
        <p:txBody>
          <a:bodyPr wrap="square" lIns="76200" tIns="76200" rIns="76200" bIns="76200" rtlCol="0" anchor="ctr"/>
          <a:lstStyle/>
          <a:p>
            <a:pPr algn="ctr" indent="0" marL="0">
              <a:buNone/>
            </a:pPr>
            <a:endParaRPr lang="en-US" sz="1300" dirty="0"/>
          </a:p>
        </p:txBody>
      </p:sp>
      <p:sp>
        <p:nvSpPr>
          <p:cNvPr id="12" name="Text 10"/>
          <p:cNvSpPr txBox="1"/>
          <p:nvPr/>
        </p:nvSpPr>
        <p:spPr>
          <a:xfrm>
            <a:off x="685800" y="2103120"/>
            <a:ext cx="3291840" cy="2468880"/>
          </a:xfrm>
          <a:prstGeom prst="rect">
            <a:avLst/>
          </a:prstGeom>
          <a:noFill/>
          <a:ln/>
        </p:spPr>
        <p:txBody>
          <a:bodyPr wrap="square" lIns="0" tIns="0" rIns="0" bIns="0" rtlCol="0" anchor="t"/>
          <a:lstStyle/>
          <a:p>
            <a:pPr algn="l"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Phase 1: Standard and Chandra OCR routing</a:t>
            </a:r>
            <a:endParaRPr lang="en-US" sz="1450" dirty="0"/>
          </a:p>
          <a:p>
            <a:pPr algn="l"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Phase 2: teacher ingestion, extraction, parsing, embedding, ChromaDB storage, and UI status integration reported as passing audit tests</a:t>
            </a:r>
            <a:endParaRPr lang="en-US" sz="1450" dirty="0"/>
          </a:p>
          <a:p>
            <a:pPr algn="l"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A basic evaluator was reported to exist</a:t>
            </a:r>
            <a:endParaRPr lang="en-US" sz="1450" dirty="0"/>
          </a:p>
        </p:txBody>
      </p:sp>
      <p:sp>
        <p:nvSpPr>
          <p:cNvPr id="13" name="Box: Pending verification"/>
          <p:cNvSpPr/>
          <p:nvPr/>
        </p:nvSpPr>
        <p:spPr>
          <a:xfrm>
            <a:off x="4297680" y="1417320"/>
            <a:ext cx="3566160" cy="457200"/>
          </a:xfrm>
          <a:prstGeom prst="roundRect">
            <a:avLst>
              <a:gd name="adj" fmla="val 16000"/>
            </a:avLst>
          </a:prstGeom>
          <a:solidFill>
            <a:srgbClr val="FFF4D6"/>
          </a:solidFill>
          <a:ln w="12700">
            <a:solidFill>
              <a:srgbClr val="E0A100"/>
            </a:solidFill>
          </a:ln>
        </p:spPr>
        <p:txBody>
          <a:bodyPr wrap="square" lIns="25400" tIns="25400" rIns="25400" bIns="25400" rtlCol="0" anchor="ctr"/>
          <a:lstStyle/>
          <a:p>
            <a:pPr algn="ctr" indent="0" marL="0">
              <a:buNone/>
            </a:pPr>
            <a:r>
              <a:rPr lang="en-US" sz="1600" b="1" dirty="0">
                <a:solidFill>
                  <a:srgbClr val="8A6500"/>
                </a:solidFill>
                <a:latin typeface="Calibri" pitchFamily="34" charset="0"/>
                <a:ea typeface="Calibri" pitchFamily="34" charset="-122"/>
                <a:cs typeface="Calibri" pitchFamily="34" charset="-120"/>
              </a:rPr>
              <a:t>Pending verification</a:t>
            </a:r>
            <a:endParaRPr lang="en-US" sz="1600" dirty="0"/>
          </a:p>
        </p:txBody>
      </p:sp>
      <p:sp>
        <p:nvSpPr>
          <p:cNvPr id="14" name="Box: "/>
          <p:cNvSpPr/>
          <p:nvPr/>
        </p:nvSpPr>
        <p:spPr>
          <a:xfrm>
            <a:off x="4297680" y="1965960"/>
            <a:ext cx="3566160" cy="2697480"/>
          </a:xfrm>
          <a:prstGeom prst="rect">
            <a:avLst>
              <a:gd name="adj" fmla="val 2712"/>
            </a:avLst>
          </a:prstGeom>
          <a:solidFill>
            <a:srgbClr val="FFFFFF"/>
          </a:solidFill>
          <a:ln w="12700">
            <a:solidFill>
              <a:srgbClr val="CBD2DC"/>
            </a:solidFill>
          </a:ln>
        </p:spPr>
        <p:txBody>
          <a:bodyPr wrap="square" lIns="76200" tIns="76200" rIns="76200" bIns="76200" rtlCol="0" anchor="ctr"/>
          <a:lstStyle/>
          <a:p>
            <a:pPr algn="ctr" indent="0" marL="0">
              <a:buNone/>
            </a:pPr>
            <a:endParaRPr lang="en-US" sz="1300" dirty="0"/>
          </a:p>
        </p:txBody>
      </p:sp>
      <p:sp>
        <p:nvSpPr>
          <p:cNvPr id="15" name="Text 13"/>
          <p:cNvSpPr txBox="1"/>
          <p:nvPr/>
        </p:nvSpPr>
        <p:spPr>
          <a:xfrm>
            <a:off x="4434840" y="2103120"/>
            <a:ext cx="3291840" cy="2468880"/>
          </a:xfrm>
          <a:prstGeom prst="rect">
            <a:avLst/>
          </a:prstGeom>
          <a:noFill/>
          <a:ln/>
        </p:spPr>
        <p:txBody>
          <a:bodyPr wrap="square" lIns="0" tIns="0" rIns="0" bIns="0" rtlCol="0" anchor="t"/>
          <a:lstStyle/>
          <a:p>
            <a:pPr algn="l"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Actual OCR runtime behavior</a:t>
            </a:r>
            <a:endParaRPr lang="en-US" sz="1450" dirty="0"/>
          </a:p>
          <a:p>
            <a:pPr algn="l"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Local-file storage and structured-record persistence</a:t>
            </a:r>
            <a:endParaRPr lang="en-US" sz="1450" dirty="0"/>
          </a:p>
          <a:p>
            <a:pPr algn="l"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ChromaDB persistence after restart</a:t>
            </a:r>
            <a:endParaRPr lang="en-US" sz="1450" dirty="0"/>
          </a:p>
          <a:p>
            <a:pPr algn="l"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Embedding metadata and re-ingestion consistency</a:t>
            </a:r>
            <a:endParaRPr lang="en-US" sz="1450" dirty="0"/>
          </a:p>
          <a:p>
            <a:pPr algn="l"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Complete integration through the application UI</a:t>
            </a:r>
            <a:endParaRPr lang="en-US" sz="1450" dirty="0"/>
          </a:p>
        </p:txBody>
      </p:sp>
      <p:sp>
        <p:nvSpPr>
          <p:cNvPr id="16" name="Box: Planned / not confirmed"/>
          <p:cNvSpPr/>
          <p:nvPr/>
        </p:nvSpPr>
        <p:spPr>
          <a:xfrm>
            <a:off x="8046720" y="1417320"/>
            <a:ext cx="3566160" cy="457200"/>
          </a:xfrm>
          <a:prstGeom prst="roundRect">
            <a:avLst>
              <a:gd name="adj" fmla="val 16000"/>
            </a:avLst>
          </a:prstGeom>
          <a:solidFill>
            <a:srgbClr val="ECE9FA"/>
          </a:solidFill>
          <a:ln w="19050">
            <a:solidFill>
              <a:srgbClr val="6D5BD0"/>
            </a:solidFill>
            <a:prstDash val="dash"/>
          </a:ln>
        </p:spPr>
        <p:txBody>
          <a:bodyPr wrap="square" lIns="25400" tIns="25400" rIns="25400" bIns="25400" rtlCol="0" anchor="ctr"/>
          <a:lstStyle/>
          <a:p>
            <a:pPr algn="ctr" indent="0" marL="0">
              <a:buNone/>
            </a:pPr>
            <a:r>
              <a:rPr lang="en-US" sz="1600" b="1" dirty="0">
                <a:solidFill>
                  <a:srgbClr val="6D5BD0"/>
                </a:solidFill>
                <a:latin typeface="Calibri" pitchFamily="34" charset="0"/>
                <a:ea typeface="Calibri" pitchFamily="34" charset="-122"/>
                <a:cs typeface="Calibri" pitchFamily="34" charset="-120"/>
              </a:rPr>
              <a:t>Planned / not confirmed</a:t>
            </a:r>
            <a:endParaRPr lang="en-US" sz="1600" dirty="0"/>
          </a:p>
        </p:txBody>
      </p:sp>
      <p:sp>
        <p:nvSpPr>
          <p:cNvPr id="17" name="Box: "/>
          <p:cNvSpPr/>
          <p:nvPr/>
        </p:nvSpPr>
        <p:spPr>
          <a:xfrm>
            <a:off x="8046720" y="1965960"/>
            <a:ext cx="3566160" cy="2697480"/>
          </a:xfrm>
          <a:prstGeom prst="rect">
            <a:avLst>
              <a:gd name="adj" fmla="val 2712"/>
            </a:avLst>
          </a:prstGeom>
          <a:solidFill>
            <a:srgbClr val="FFFFFF"/>
          </a:solidFill>
          <a:ln w="19050">
            <a:solidFill>
              <a:srgbClr val="6D5BD0"/>
            </a:solidFill>
            <a:prstDash val="dash"/>
          </a:ln>
        </p:spPr>
        <p:txBody>
          <a:bodyPr wrap="square" lIns="76200" tIns="76200" rIns="76200" bIns="76200" rtlCol="0" anchor="ctr"/>
          <a:lstStyle/>
          <a:p>
            <a:pPr algn="ctr" indent="0" marL="0">
              <a:buNone/>
            </a:pPr>
            <a:endParaRPr lang="en-US" sz="1300" dirty="0"/>
          </a:p>
        </p:txBody>
      </p:sp>
      <p:sp>
        <p:nvSpPr>
          <p:cNvPr id="18" name="Text 16"/>
          <p:cNvSpPr txBox="1"/>
          <p:nvPr/>
        </p:nvSpPr>
        <p:spPr>
          <a:xfrm>
            <a:off x="8183880" y="2103120"/>
            <a:ext cx="3291840" cy="2468880"/>
          </a:xfrm>
          <a:prstGeom prst="rect">
            <a:avLst/>
          </a:prstGeom>
          <a:noFill/>
          <a:ln/>
        </p:spPr>
        <p:txBody>
          <a:bodyPr wrap="square" lIns="0" tIns="0" rIns="0" bIns="0" rtlCol="0" anchor="t"/>
          <a:lstStyle/>
          <a:p>
            <a:pPr algn="l"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Phase 3: student answer segmentation and question mapping</a:t>
            </a:r>
            <a:endParaRPr lang="en-US" sz="1450" dirty="0"/>
          </a:p>
          <a:p>
            <a:pPr algn="l"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Full Phase 4 rubric-based evaluation integration</a:t>
            </a:r>
            <a:endParaRPr lang="en-US" sz="1450" dirty="0"/>
          </a:p>
          <a:p>
            <a:pPr algn="l"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Complete end-to-end assessment workflow</a:t>
            </a:r>
            <a:endParaRPr lang="en-US" sz="1450" dirty="0"/>
          </a:p>
        </p:txBody>
      </p:sp>
      <p:sp>
        <p:nvSpPr>
          <p:cNvPr id="19" name="Text 17"/>
          <p:cNvSpPr txBox="1"/>
          <p:nvPr/>
        </p:nvSpPr>
        <p:spPr>
          <a:xfrm>
            <a:off x="548640" y="4846320"/>
            <a:ext cx="5486400" cy="228600"/>
          </a:xfrm>
          <a:prstGeom prst="rect">
            <a:avLst/>
          </a:prstGeom>
          <a:noFill/>
          <a:ln/>
        </p:spPr>
        <p:txBody>
          <a:bodyPr wrap="square" lIns="0" tIns="0" rIns="0" bIns="0" rtlCol="0" anchor="t"/>
          <a:lstStyle/>
          <a:p>
            <a:pPr algn="l" indent="0" marL="0">
              <a:buNone/>
            </a:pPr>
            <a:r>
              <a:rPr lang="en-US" sz="1100" b="1" spc="200" kern="0" dirty="0">
                <a:solidFill>
                  <a:srgbClr val="0B1F3A"/>
                </a:solidFill>
                <a:latin typeface="Calibri" pitchFamily="34" charset="0"/>
                <a:ea typeface="Calibri" pitchFamily="34" charset="-122"/>
                <a:cs typeface="Calibri" pitchFamily="34" charset="-120"/>
              </a:rPr>
              <a:t>RECOMMENDED IMPLEMENTATION ORDER</a:t>
            </a:r>
            <a:endParaRPr lang="en-US" sz="1100" dirty="0"/>
          </a:p>
        </p:txBody>
      </p:sp>
      <p:sp>
        <p:nvSpPr>
          <p:cNvPr id="20" name="Box: Verify Phase 1 and Phase 2 beh"/>
          <p:cNvSpPr/>
          <p:nvPr/>
        </p:nvSpPr>
        <p:spPr>
          <a:xfrm>
            <a:off x="548640" y="5166360"/>
            <a:ext cx="2103120" cy="1097280"/>
          </a:xfrm>
          <a:prstGeom prst="roundRect">
            <a:avLst>
              <a:gd name="adj" fmla="val 6667"/>
            </a:avLst>
          </a:prstGeom>
          <a:solidFill>
            <a:srgbClr val="FFFFFF"/>
          </a:solidFill>
          <a:ln w="12700">
            <a:solidFill>
              <a:srgbClr val="0F9D9A"/>
            </a:solidFill>
          </a:ln>
        </p:spPr>
        <p:txBody>
          <a:bodyPr wrap="square" lIns="101600" tIns="101600" rIns="101600" bIns="10160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Verify Phase 1 and Phase 2 behavior and persistence</a:t>
            </a:r>
            <a:endParaRPr lang="en-US" sz="1300" dirty="0"/>
          </a:p>
        </p:txBody>
      </p:sp>
      <p:sp>
        <p:nvSpPr>
          <p:cNvPr id="21" name="Step 1"/>
          <p:cNvSpPr/>
          <p:nvPr/>
        </p:nvSpPr>
        <p:spPr>
          <a:xfrm>
            <a:off x="640080" y="5074920"/>
            <a:ext cx="310896" cy="310896"/>
          </a:xfrm>
          <a:prstGeom prst="ellipse">
            <a:avLst/>
          </a:prstGeom>
          <a:solidFill>
            <a:srgbClr val="0F9D9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Box: Implement and test Phase 3"/>
          <p:cNvSpPr/>
          <p:nvPr/>
        </p:nvSpPr>
        <p:spPr>
          <a:xfrm>
            <a:off x="2788920" y="5166360"/>
            <a:ext cx="2103120" cy="1097280"/>
          </a:xfrm>
          <a:prstGeom prst="roundRect">
            <a:avLst>
              <a:gd name="adj" fmla="val 6667"/>
            </a:avLst>
          </a:prstGeom>
          <a:solidFill>
            <a:srgbClr val="FFFFFF"/>
          </a:solidFill>
          <a:ln w="12700">
            <a:solidFill>
              <a:srgbClr val="0F9D9A"/>
            </a:solidFill>
          </a:ln>
        </p:spPr>
        <p:txBody>
          <a:bodyPr wrap="square" lIns="101600" tIns="101600" rIns="101600" bIns="10160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Implement and test Phase 3</a:t>
            </a:r>
            <a:endParaRPr lang="en-US" sz="1300" dirty="0"/>
          </a:p>
        </p:txBody>
      </p:sp>
      <p:sp>
        <p:nvSpPr>
          <p:cNvPr id="23" name="Step 2"/>
          <p:cNvSpPr/>
          <p:nvPr/>
        </p:nvSpPr>
        <p:spPr>
          <a:xfrm>
            <a:off x="2880360" y="5074920"/>
            <a:ext cx="310896" cy="310896"/>
          </a:xfrm>
          <a:prstGeom prst="ellipse">
            <a:avLst/>
          </a:prstGeom>
          <a:solidFill>
            <a:srgbClr val="0F9D9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Box: Integrate and validate Phase 4"/>
          <p:cNvSpPr/>
          <p:nvPr/>
        </p:nvSpPr>
        <p:spPr>
          <a:xfrm>
            <a:off x="5029200" y="5166360"/>
            <a:ext cx="2103120" cy="1097280"/>
          </a:xfrm>
          <a:prstGeom prst="roundRect">
            <a:avLst>
              <a:gd name="adj" fmla="val 6667"/>
            </a:avLst>
          </a:prstGeom>
          <a:solidFill>
            <a:srgbClr val="FFFFFF"/>
          </a:solidFill>
          <a:ln w="12700">
            <a:solidFill>
              <a:srgbClr val="0F9D9A"/>
            </a:solidFill>
          </a:ln>
        </p:spPr>
        <p:txBody>
          <a:bodyPr wrap="square" lIns="101600" tIns="101600" rIns="101600" bIns="10160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Integrate and validate Phase 4</a:t>
            </a:r>
            <a:endParaRPr lang="en-US" sz="1300" dirty="0"/>
          </a:p>
        </p:txBody>
      </p:sp>
      <p:sp>
        <p:nvSpPr>
          <p:cNvPr id="25" name="Step 3"/>
          <p:cNvSpPr/>
          <p:nvPr/>
        </p:nvSpPr>
        <p:spPr>
          <a:xfrm>
            <a:off x="5120640" y="5074920"/>
            <a:ext cx="310896" cy="310896"/>
          </a:xfrm>
          <a:prstGeom prst="ellipse">
            <a:avLst/>
          </a:prstGeom>
          <a:solidFill>
            <a:srgbClr val="0F9D9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Box: Test the complete workflow"/>
          <p:cNvSpPr/>
          <p:nvPr/>
        </p:nvSpPr>
        <p:spPr>
          <a:xfrm>
            <a:off x="7269480" y="5166360"/>
            <a:ext cx="2103120" cy="1097280"/>
          </a:xfrm>
          <a:prstGeom prst="roundRect">
            <a:avLst>
              <a:gd name="adj" fmla="val 6667"/>
            </a:avLst>
          </a:prstGeom>
          <a:solidFill>
            <a:srgbClr val="FFFFFF"/>
          </a:solidFill>
          <a:ln w="12700">
            <a:solidFill>
              <a:srgbClr val="0F9D9A"/>
            </a:solidFill>
          </a:ln>
        </p:spPr>
        <p:txBody>
          <a:bodyPr wrap="square" lIns="101600" tIns="101600" rIns="101600" bIns="10160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Test the complete workflow</a:t>
            </a:r>
            <a:endParaRPr lang="en-US" sz="1300" dirty="0"/>
          </a:p>
        </p:txBody>
      </p:sp>
      <p:sp>
        <p:nvSpPr>
          <p:cNvPr id="27" name="Step 4"/>
          <p:cNvSpPr/>
          <p:nvPr/>
        </p:nvSpPr>
        <p:spPr>
          <a:xfrm>
            <a:off x="7360920" y="5074920"/>
            <a:ext cx="310896" cy="310896"/>
          </a:xfrm>
          <a:prstGeom prst="ellipse">
            <a:avLst/>
          </a:prstGeom>
          <a:solidFill>
            <a:srgbClr val="0F9D9A"/>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Box: Explore diagram/table interpre"/>
          <p:cNvSpPr/>
          <p:nvPr/>
        </p:nvSpPr>
        <p:spPr>
          <a:xfrm>
            <a:off x="9509760" y="5166360"/>
            <a:ext cx="2103120" cy="1097280"/>
          </a:xfrm>
          <a:prstGeom prst="roundRect">
            <a:avLst>
              <a:gd name="adj" fmla="val 6667"/>
            </a:avLst>
          </a:prstGeom>
          <a:solidFill>
            <a:srgbClr val="FFFFFF"/>
          </a:solidFill>
          <a:ln w="19050">
            <a:solidFill>
              <a:srgbClr val="6D5BD0"/>
            </a:solidFill>
            <a:prstDash val="dash"/>
          </a:ln>
        </p:spPr>
        <p:txBody>
          <a:bodyPr wrap="square" lIns="101600" tIns="101600" rIns="101600" bIns="101600" rtlCol="0" anchor="ctr"/>
          <a:lstStyle/>
          <a:p>
            <a:pPr algn="ctr" indent="0" marL="0">
              <a:buNone/>
            </a:pPr>
            <a:r>
              <a:rPr lang="en-US" sz="1300" dirty="0">
                <a:solidFill>
                  <a:srgbClr val="1F2937"/>
                </a:solidFill>
                <a:latin typeface="Calibri" pitchFamily="34" charset="0"/>
                <a:ea typeface="Calibri" pitchFamily="34" charset="-122"/>
                <a:cs typeface="Calibri" pitchFamily="34" charset="-120"/>
              </a:rPr>
              <a:t>Explore diagram/table interpretation and richer feedback</a:t>
            </a:r>
            <a:endParaRPr lang="en-US" sz="1300" dirty="0"/>
          </a:p>
        </p:txBody>
      </p:sp>
      <p:sp>
        <p:nvSpPr>
          <p:cNvPr id="29" name="Step 5"/>
          <p:cNvSpPr/>
          <p:nvPr/>
        </p:nvSpPr>
        <p:spPr>
          <a:xfrm>
            <a:off x="9601200" y="5074920"/>
            <a:ext cx="310896" cy="310896"/>
          </a:xfrm>
          <a:prstGeom prst="ellipse">
            <a:avLst/>
          </a:prstGeom>
          <a:solidFill>
            <a:srgbClr val="6D5BD0"/>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AI-Tutor — Toward Traceable, Reference-Grounded Assessment</a:t>
            </a:r>
            <a:endParaRPr lang="en-US" sz="3000" dirty="0"/>
          </a:p>
        </p:txBody>
      </p:sp>
      <p:sp>
        <p:nvSpPr>
          <p:cNvPr id="3" name="Box: OCR for document text extracti"/>
          <p:cNvSpPr/>
          <p:nvPr/>
        </p:nvSpPr>
        <p:spPr>
          <a:xfrm>
            <a:off x="548640" y="1463040"/>
            <a:ext cx="3566160" cy="731520"/>
          </a:xfrm>
          <a:prstGeom prst="roundRect">
            <a:avLst>
              <a:gd name="adj" fmla="val 10000"/>
            </a:avLst>
          </a:prstGeom>
          <a:solidFill>
            <a:srgbClr val="12305A"/>
          </a:solidFill>
          <a:ln w="12700">
            <a:solidFill>
              <a:srgbClr val="2A4A7A"/>
            </a:solidFill>
          </a:ln>
        </p:spPr>
        <p:txBody>
          <a:bodyPr wrap="square" lIns="152400" tIns="152400" rIns="152400" bIns="15240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OCR for document text extraction</a:t>
            </a:r>
            <a:endParaRPr lang="en-US" sz="1500" dirty="0"/>
          </a:p>
        </p:txBody>
      </p:sp>
      <p:sp>
        <p:nvSpPr>
          <p:cNvPr id="4" name="Box: Structured teacher knowledge i"/>
          <p:cNvSpPr/>
          <p:nvPr/>
        </p:nvSpPr>
        <p:spPr>
          <a:xfrm>
            <a:off x="4297680" y="1463040"/>
            <a:ext cx="3566160" cy="731520"/>
          </a:xfrm>
          <a:prstGeom prst="roundRect">
            <a:avLst>
              <a:gd name="adj" fmla="val 10000"/>
            </a:avLst>
          </a:prstGeom>
          <a:solidFill>
            <a:srgbClr val="12305A"/>
          </a:solidFill>
          <a:ln w="12700">
            <a:solidFill>
              <a:srgbClr val="2A4A7A"/>
            </a:solidFill>
          </a:ln>
        </p:spPr>
        <p:txBody>
          <a:bodyPr wrap="square" lIns="152400" tIns="152400" rIns="152400" bIns="15240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Structured teacher knowledge ingestion</a:t>
            </a:r>
            <a:endParaRPr lang="en-US" sz="1500" dirty="0"/>
          </a:p>
        </p:txBody>
      </p:sp>
      <p:sp>
        <p:nvSpPr>
          <p:cNvPr id="5" name="Box: Semantic indexing for relevant"/>
          <p:cNvSpPr/>
          <p:nvPr/>
        </p:nvSpPr>
        <p:spPr>
          <a:xfrm>
            <a:off x="8046720" y="1463040"/>
            <a:ext cx="3566160" cy="731520"/>
          </a:xfrm>
          <a:prstGeom prst="roundRect">
            <a:avLst>
              <a:gd name="adj" fmla="val 10000"/>
            </a:avLst>
          </a:prstGeom>
          <a:solidFill>
            <a:srgbClr val="12305A"/>
          </a:solidFill>
          <a:ln w="12700">
            <a:solidFill>
              <a:srgbClr val="2A4A7A"/>
            </a:solidFill>
          </a:ln>
        </p:spPr>
        <p:txBody>
          <a:bodyPr wrap="square" lIns="152400" tIns="152400" rIns="152400" bIns="15240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Semantic indexing for relevant context retrieval</a:t>
            </a:r>
            <a:endParaRPr lang="en-US" sz="1500" dirty="0"/>
          </a:p>
        </p:txBody>
      </p:sp>
      <p:sp>
        <p:nvSpPr>
          <p:cNvPr id="6" name="Box: Question-wise student answer m"/>
          <p:cNvSpPr/>
          <p:nvPr/>
        </p:nvSpPr>
        <p:spPr>
          <a:xfrm>
            <a:off x="548640" y="2377440"/>
            <a:ext cx="3566160" cy="731520"/>
          </a:xfrm>
          <a:prstGeom prst="roundRect">
            <a:avLst>
              <a:gd name="adj" fmla="val 10000"/>
            </a:avLst>
          </a:prstGeom>
          <a:solidFill>
            <a:srgbClr val="12305A"/>
          </a:solidFill>
          <a:ln w="12700">
            <a:solidFill>
              <a:srgbClr val="2A4A7A"/>
            </a:solidFill>
          </a:ln>
        </p:spPr>
        <p:txBody>
          <a:bodyPr wrap="square" lIns="152400" tIns="152400" rIns="152400" bIns="15240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Question-wise student answer mapping</a:t>
            </a:r>
            <a:endParaRPr lang="en-US" sz="1500" dirty="0"/>
          </a:p>
        </p:txBody>
      </p:sp>
      <p:sp>
        <p:nvSpPr>
          <p:cNvPr id="7" name="Box: Rubric-grounded AI evaluation"/>
          <p:cNvSpPr/>
          <p:nvPr/>
        </p:nvSpPr>
        <p:spPr>
          <a:xfrm>
            <a:off x="4297680" y="2377440"/>
            <a:ext cx="3566160" cy="731520"/>
          </a:xfrm>
          <a:prstGeom prst="roundRect">
            <a:avLst>
              <a:gd name="adj" fmla="val 10000"/>
            </a:avLst>
          </a:prstGeom>
          <a:solidFill>
            <a:srgbClr val="12305A"/>
          </a:solidFill>
          <a:ln w="12700">
            <a:solidFill>
              <a:srgbClr val="2A4A7A"/>
            </a:solidFill>
          </a:ln>
        </p:spPr>
        <p:txBody>
          <a:bodyPr wrap="square" lIns="152400" tIns="152400" rIns="152400" bIns="15240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Rubric-grounded AI evaluation</a:t>
            </a:r>
            <a:endParaRPr lang="en-US" sz="1500" dirty="0"/>
          </a:p>
        </p:txBody>
      </p:sp>
      <p:sp>
        <p:nvSpPr>
          <p:cNvPr id="8" name="Box: Validation, traceability, and "/>
          <p:cNvSpPr/>
          <p:nvPr/>
        </p:nvSpPr>
        <p:spPr>
          <a:xfrm>
            <a:off x="8046720" y="2377440"/>
            <a:ext cx="3566160" cy="731520"/>
          </a:xfrm>
          <a:prstGeom prst="roundRect">
            <a:avLst>
              <a:gd name="adj" fmla="val 10000"/>
            </a:avLst>
          </a:prstGeom>
          <a:solidFill>
            <a:srgbClr val="12305A"/>
          </a:solidFill>
          <a:ln w="12700">
            <a:solidFill>
              <a:srgbClr val="2A4A7A"/>
            </a:solidFill>
          </a:ln>
        </p:spPr>
        <p:txBody>
          <a:bodyPr wrap="square" lIns="152400" tIns="152400" rIns="152400" bIns="15240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Validation, traceability, and teacher review</a:t>
            </a:r>
            <a:endParaRPr lang="en-US" sz="1500" dirty="0"/>
          </a:p>
        </p:txBody>
      </p:sp>
      <p:sp>
        <p:nvSpPr>
          <p:cNvPr id="9" name="Box: Teacher Knowledge"/>
          <p:cNvSpPr/>
          <p:nvPr/>
        </p:nvSpPr>
        <p:spPr>
          <a:xfrm>
            <a:off x="548640" y="3520440"/>
            <a:ext cx="2743200" cy="502920"/>
          </a:xfrm>
          <a:prstGeom prst="roundRect">
            <a:avLst>
              <a:gd name="adj" fmla="val 14545"/>
            </a:avLst>
          </a:prstGeom>
          <a:solidFill>
            <a:srgbClr val="FFFFFF"/>
          </a:solidFill>
          <a:ln w="12700">
            <a:solidFill>
              <a:srgbClr val="FFFFFF"/>
            </a:solidFill>
          </a:ln>
        </p:spPr>
        <p:txBody>
          <a:bodyPr wrap="square" lIns="76200" tIns="76200" rIns="76200" bIns="7620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Teacher Knowledge</a:t>
            </a:r>
            <a:endParaRPr lang="en-US" sz="1400" dirty="0"/>
          </a:p>
        </p:txBody>
      </p:sp>
      <p:sp>
        <p:nvSpPr>
          <p:cNvPr id="10" name="Status dot"/>
          <p:cNvSpPr/>
          <p:nvPr/>
        </p:nvSpPr>
        <p:spPr>
          <a:xfrm>
            <a:off x="3108960" y="3584448"/>
            <a:ext cx="128016" cy="128016"/>
          </a:xfrm>
          <a:prstGeom prst="ellipse">
            <a:avLst/>
          </a:prstGeom>
          <a:solidFill>
            <a:srgbClr val="2E9E5B"/>
          </a:solidFill>
          <a:ln/>
        </p:spPr>
      </p:sp>
      <p:sp>
        <p:nvSpPr>
          <p:cNvPr id="11" name="Box: Student Answers"/>
          <p:cNvSpPr/>
          <p:nvPr/>
        </p:nvSpPr>
        <p:spPr>
          <a:xfrm>
            <a:off x="548640" y="4251960"/>
            <a:ext cx="2743200" cy="502920"/>
          </a:xfrm>
          <a:prstGeom prst="roundRect">
            <a:avLst>
              <a:gd name="adj" fmla="val 14545"/>
            </a:avLst>
          </a:prstGeom>
          <a:solidFill>
            <a:srgbClr val="12305A"/>
          </a:solidFill>
          <a:ln w="19050">
            <a:solidFill>
              <a:srgbClr val="9FB0C8"/>
            </a:solidFill>
            <a:prstDash val="dash"/>
          </a:ln>
        </p:spPr>
        <p:txBody>
          <a:bodyPr wrap="square" lIns="76200" tIns="76200" rIns="76200" bIns="762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Student Answers</a:t>
            </a:r>
            <a:endParaRPr lang="en-US" sz="1400" dirty="0"/>
          </a:p>
        </p:txBody>
      </p:sp>
      <p:sp>
        <p:nvSpPr>
          <p:cNvPr id="12" name="Text 10"/>
          <p:cNvSpPr txBox="1"/>
          <p:nvPr/>
        </p:nvSpPr>
        <p:spPr>
          <a:xfrm>
            <a:off x="1737360" y="4023360"/>
            <a:ext cx="365760" cy="22860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Arrow"/>
          <p:cNvSpPr/>
          <p:nvPr/>
        </p:nvSpPr>
        <p:spPr>
          <a:xfrm>
            <a:off x="3337560" y="4069080"/>
            <a:ext cx="457200" cy="0"/>
          </a:xfrm>
          <a:prstGeom prst="line">
            <a:avLst/>
          </a:prstGeom>
          <a:noFill/>
          <a:ln w="22225">
            <a:solidFill>
              <a:srgbClr val="9FB0C8"/>
            </a:solidFill>
            <a:prstDash val="solid"/>
            <a:tailEnd type="triangle"/>
          </a:ln>
        </p:spPr>
      </p:sp>
      <p:sp>
        <p:nvSpPr>
          <p:cNvPr id="14" name="Box: OCR and Mapping"/>
          <p:cNvSpPr/>
          <p:nvPr/>
        </p:nvSpPr>
        <p:spPr>
          <a:xfrm>
            <a:off x="3840480" y="3520440"/>
            <a:ext cx="2560320" cy="1097280"/>
          </a:xfrm>
          <a:prstGeom prst="roundRect">
            <a:avLst>
              <a:gd name="adj" fmla="val 6667"/>
            </a:avLst>
          </a:prstGeom>
          <a:solidFill>
            <a:srgbClr val="12305A"/>
          </a:solidFill>
          <a:ln w="19050">
            <a:solidFill>
              <a:srgbClr val="9FB0C8"/>
            </a:solidFill>
            <a:prstDash val="dash"/>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OCR and Mapping</a:t>
            </a:r>
            <a:endParaRPr lang="en-US" sz="1500" dirty="0"/>
          </a:p>
        </p:txBody>
      </p:sp>
      <p:sp>
        <p:nvSpPr>
          <p:cNvPr id="15" name="Arrow"/>
          <p:cNvSpPr/>
          <p:nvPr/>
        </p:nvSpPr>
        <p:spPr>
          <a:xfrm>
            <a:off x="6446520" y="4069080"/>
            <a:ext cx="457200" cy="0"/>
          </a:xfrm>
          <a:prstGeom prst="line">
            <a:avLst/>
          </a:prstGeom>
          <a:noFill/>
          <a:ln w="22225">
            <a:solidFill>
              <a:srgbClr val="9FB0C8"/>
            </a:solidFill>
            <a:prstDash val="solid"/>
            <a:tailEnd type="triangle"/>
          </a:ln>
        </p:spPr>
      </p:sp>
      <p:sp>
        <p:nvSpPr>
          <p:cNvPr id="16" name="Box: Reference-Grounded Evaluation"/>
          <p:cNvSpPr/>
          <p:nvPr/>
        </p:nvSpPr>
        <p:spPr>
          <a:xfrm>
            <a:off x="6949440" y="3520440"/>
            <a:ext cx="2651760" cy="1097280"/>
          </a:xfrm>
          <a:prstGeom prst="roundRect">
            <a:avLst>
              <a:gd name="adj" fmla="val 6667"/>
            </a:avLst>
          </a:prstGeom>
          <a:solidFill>
            <a:srgbClr val="6D5BD0"/>
          </a:solidFill>
          <a:ln w="19050">
            <a:solidFill>
              <a:srgbClr val="B8ADF0"/>
            </a:solidFill>
            <a:prstDash val="dash"/>
          </a:ln>
        </p:spPr>
        <p:txBody>
          <a:bodyPr wrap="square" lIns="76200" tIns="76200" rIns="76200" bIns="762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Reference-Grounded Evaluation</a:t>
            </a:r>
            <a:endParaRPr lang="en-US" sz="1500" dirty="0"/>
          </a:p>
        </p:txBody>
      </p:sp>
      <p:sp>
        <p:nvSpPr>
          <p:cNvPr id="17" name="Arrow"/>
          <p:cNvSpPr/>
          <p:nvPr/>
        </p:nvSpPr>
        <p:spPr>
          <a:xfrm>
            <a:off x="9646920" y="4069080"/>
            <a:ext cx="457200" cy="0"/>
          </a:xfrm>
          <a:prstGeom prst="line">
            <a:avLst/>
          </a:prstGeom>
          <a:noFill/>
          <a:ln w="22225">
            <a:solidFill>
              <a:srgbClr val="9FB0C8"/>
            </a:solidFill>
            <a:prstDash val="solid"/>
            <a:tailEnd type="triangle"/>
          </a:ln>
        </p:spPr>
      </p:sp>
      <p:sp>
        <p:nvSpPr>
          <p:cNvPr id="18" name="Box: Marks and Feedback"/>
          <p:cNvSpPr/>
          <p:nvPr/>
        </p:nvSpPr>
        <p:spPr>
          <a:xfrm>
            <a:off x="10149840" y="3520440"/>
            <a:ext cx="1463040" cy="1097280"/>
          </a:xfrm>
          <a:prstGeom prst="roundRect">
            <a:avLst>
              <a:gd name="adj" fmla="val 6667"/>
            </a:avLst>
          </a:prstGeom>
          <a:solidFill>
            <a:srgbClr val="0F9D9A"/>
          </a:solidFill>
          <a:ln w="12700">
            <a:solidFill>
              <a:srgbClr val="0F9D9A"/>
            </a:solidFill>
          </a:ln>
        </p:spPr>
        <p:txBody>
          <a:bodyPr wrap="square" lIns="76200" tIns="76200" rIns="76200" bIns="762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Marks and Feedback</a:t>
            </a:r>
            <a:endParaRPr lang="en-US" sz="1400" dirty="0"/>
          </a:p>
        </p:txBody>
      </p:sp>
      <p:sp>
        <p:nvSpPr>
          <p:cNvPr id="19" name="Text 17"/>
          <p:cNvSpPr txBox="1"/>
          <p:nvPr/>
        </p:nvSpPr>
        <p:spPr>
          <a:xfrm>
            <a:off x="548640" y="4937760"/>
            <a:ext cx="7315200" cy="274320"/>
          </a:xfrm>
          <a:prstGeom prst="rect">
            <a:avLst/>
          </a:prstGeom>
          <a:noFill/>
          <a:ln/>
        </p:spPr>
        <p:txBody>
          <a:bodyPr wrap="square" lIns="0" tIns="0" rIns="0" bIns="0" rtlCol="0" anchor="t"/>
          <a:lstStyle/>
          <a:p>
            <a:pPr algn="l" indent="0" marL="0">
              <a:buNone/>
            </a:pPr>
            <a:r>
              <a:rPr lang="en-US" sz="1200" dirty="0">
                <a:solidFill>
                  <a:srgbClr val="9FB0C8"/>
                </a:solidFill>
                <a:latin typeface="Calibri" pitchFamily="34" charset="0"/>
                <a:ea typeface="Calibri" pitchFamily="34" charset="-122"/>
                <a:cs typeface="Calibri" pitchFamily="34" charset="-120"/>
              </a:rPr>
              <a:t>Dashed outlines: planned / completion not confirmed</a:t>
            </a:r>
            <a:endParaRPr lang="en-US" sz="1200" dirty="0"/>
          </a:p>
        </p:txBody>
      </p:sp>
      <p:sp>
        <p:nvSpPr>
          <p:cNvPr id="20" name="Text 18"/>
          <p:cNvSpPr txBox="1"/>
          <p:nvPr/>
        </p:nvSpPr>
        <p:spPr>
          <a:xfrm>
            <a:off x="548640" y="5394960"/>
            <a:ext cx="11064240" cy="82296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Thank You  |  Questions?</a:t>
            </a:r>
            <a:endParaRPr lang="en-US" sz="3600" dirty="0"/>
          </a:p>
        </p:txBody>
      </p:sp>
    </p:spTree>
  </p:cSld>
  <p:clrMapOvr>
    <a:masterClrMapping/>
  </p:clrMapOvr>
</p:sld>
</file>

<file path=ppt/theme/theme1.xml><?xml version="1.0" encoding="utf-8"?>
<a:theme xmlns:a="http://schemas.openxmlformats.org/drawingml/2006/main" name="AI-Tutor Review">
  <a:themeElements>
    <a:clrScheme name="AI-Tutor Review">
      <a:dk1>
        <a:srgbClr val="1F2937"/>
      </a:dk1>
      <a:lt1>
        <a:srgbClr val="FFFFFF"/>
      </a:lt1>
      <a:dk2>
        <a:srgbClr val="0B1F3A"/>
      </a:dk2>
      <a:lt2>
        <a:srgbClr val="F4F6F9"/>
      </a:lt2>
      <a:accent1>
        <a:srgbClr val="0B1F3A"/>
      </a:accent1>
      <a:accent2>
        <a:srgbClr val="0F9D9A"/>
      </a:accent2>
      <a:accent3>
        <a:srgbClr val="6D5BD0"/>
      </a:accent3>
      <a:accent4>
        <a:srgbClr val="2E9E5B"/>
      </a:accent4>
      <a:accent5>
        <a:srgbClr val="E0A100"/>
      </a:accent5>
      <a:accent6>
        <a:srgbClr val="5B6577"/>
      </a:accent6>
      <a:hlink>
        <a:srgbClr val="0F9D9A"/>
      </a:hlink>
      <a:folHlink>
        <a:srgbClr val="6D5BD0"/>
      </a:folHlink>
    </a:clrScheme>
    <a:fontScheme name="AI-Tutor Revie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AI-Tutor Project Presentation</dc:title>
  <dc:subject>PptxGenJS Presentation</dc:subject>
  <dc:creator>PptxGenJS</dc:creator>
  <cp:lastModifiedBy>PptxGenJS</cp:lastModifiedBy>
  <cp:revision>1</cp:revision>
  <dcterms:created xsi:type="dcterms:W3CDTF">2026-10-09T04:47:19Z</dcterms:created>
  <dcterms:modified xsi:type="dcterms:W3CDTF">2026-10-09T04:47:19Z</dcterms:modified>
</cp:coreProperties>
</file>